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4cce058843427c" /><Relationship Type="http://schemas.openxmlformats.org/officeDocument/2006/relationships/extended-properties" Target="/docProps/app.xml" Id="Rdb3651b584e74eea" /><Relationship Type="http://schemas.openxmlformats.org/officeDocument/2006/relationships/officeDocument" Target="/ppt/presentation.xml" Id="R979a041459b648f3" /></Relationships>
</file>

<file path=ppt/presentation.xml><?xml version="1.0" encoding="utf-8"?>
<p:presentation xmlns:p="http://schemas.openxmlformats.org/presentationml/2006/main">
  <p:sldMasterIdLst>
    <p:sldMasterId xmlns:r="http://schemas.openxmlformats.org/officeDocument/2006/relationships" id="2147483648" r:id="R788393b80c914b1f"/>
  </p:sldMasterIdLst>
  <p:notesMasterIdLst>
    <p:notesMasterId xmlns:r="http://schemas.openxmlformats.org/officeDocument/2006/relationships" r:id="Red552ef2f1864dc9"/>
  </p:notesMasterIdLst>
  <p:sldIdLst>
    <p:sldId xmlns:r="http://schemas.openxmlformats.org/officeDocument/2006/relationships" id="256" r:id="R8c18a51dbe03499a"/>
    <p:sldId xmlns:r="http://schemas.openxmlformats.org/officeDocument/2006/relationships" id="257" r:id="Rfe29a104038642dc"/>
    <p:sldId xmlns:r="http://schemas.openxmlformats.org/officeDocument/2006/relationships" id="258" r:id="R31cd51d5c7ca41ac"/>
    <p:sldId xmlns:r="http://schemas.openxmlformats.org/officeDocument/2006/relationships" id="259" r:id="R9d4890fda57a48d5"/>
    <p:sldId xmlns:r="http://schemas.openxmlformats.org/officeDocument/2006/relationships" id="260" r:id="Ra971c6314d9e4d9e"/>
    <p:sldId xmlns:r="http://schemas.openxmlformats.org/officeDocument/2006/relationships" id="261" r:id="R5883443974214bcb"/>
    <p:sldId xmlns:r="http://schemas.openxmlformats.org/officeDocument/2006/relationships" id="262" r:id="R29bace79e3374cfb"/>
    <p:sldId xmlns:r="http://schemas.openxmlformats.org/officeDocument/2006/relationships" id="263" r:id="R727dd24cfa4a41c3"/>
    <p:sldId xmlns:r="http://schemas.openxmlformats.org/officeDocument/2006/relationships" id="264" r:id="R9a09ceb95a0744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ed7ae3cb3b4df9" /><Relationship Type="http://schemas.openxmlformats.org/officeDocument/2006/relationships/slideMaster" Target="/ppt/slideMasters/slideMaster1.xml" Id="R788393b80c914b1f" /><Relationship Type="http://schemas.openxmlformats.org/officeDocument/2006/relationships/notesMaster" Target="/ppt/notesMasters/notesMaster1.xml" Id="Red552ef2f1864dc9" /><Relationship Type="http://schemas.openxmlformats.org/officeDocument/2006/relationships/presProps" Target="/ppt/presProps.xml" Id="Rcd8ead77b0a64330" /><Relationship Type="http://schemas.openxmlformats.org/officeDocument/2006/relationships/tableStyles" Target="/ppt/tableStyles.xml" Id="R10c99fc9f00c4ac5" /><Relationship Type="http://schemas.openxmlformats.org/officeDocument/2006/relationships/slide" Target="/ppt/slides/slide1.xml" Id="R8c18a51dbe03499a" /><Relationship Type="http://schemas.openxmlformats.org/officeDocument/2006/relationships/slide" Target="/ppt/slides/slide2.xml" Id="Rfe29a104038642dc" /><Relationship Type="http://schemas.openxmlformats.org/officeDocument/2006/relationships/slide" Target="/ppt/slides/slide3.xml" Id="R31cd51d5c7ca41ac" /><Relationship Type="http://schemas.openxmlformats.org/officeDocument/2006/relationships/slide" Target="/ppt/slides/slide4.xml" Id="R9d4890fda57a48d5" /><Relationship Type="http://schemas.openxmlformats.org/officeDocument/2006/relationships/slide" Target="/ppt/slides/slide5.xml" Id="Ra971c6314d9e4d9e" /><Relationship Type="http://schemas.openxmlformats.org/officeDocument/2006/relationships/slide" Target="/ppt/slides/slide6.xml" Id="R5883443974214bcb" /><Relationship Type="http://schemas.openxmlformats.org/officeDocument/2006/relationships/slide" Target="/ppt/slides/slide7.xml" Id="R29bace79e3374cfb" /><Relationship Type="http://schemas.openxmlformats.org/officeDocument/2006/relationships/slide" Target="/ppt/slides/slide8.xml" Id="R727dd24cfa4a41c3" /><Relationship Type="http://schemas.openxmlformats.org/officeDocument/2006/relationships/slide" Target="/ppt/slides/slide9.xml" Id="R9a09ceb95a0744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17660c165541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d28167065e425f" /><Relationship Type="http://schemas.openxmlformats.org/officeDocument/2006/relationships/notesMaster" Target="/ppt/notesMasters/notesMaster1.xml" Id="R1d152fd3fa0e4d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1bc57cb1b94985" /><Relationship Type="http://schemas.openxmlformats.org/officeDocument/2006/relationships/notesMaster" Target="/ppt/notesMasters/notesMaster1.xml" Id="R3fc9b9788e1c4e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cc6f29435b460b" /><Relationship Type="http://schemas.openxmlformats.org/officeDocument/2006/relationships/notesMaster" Target="/ppt/notesMasters/notesMaster1.xml" Id="R0cd04a3724cf47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b2d713821a475e" /><Relationship Type="http://schemas.openxmlformats.org/officeDocument/2006/relationships/notesMaster" Target="/ppt/notesMasters/notesMaster1.xml" Id="R77a73940241244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02ab9c3f334293" /><Relationship Type="http://schemas.openxmlformats.org/officeDocument/2006/relationships/notesMaster" Target="/ppt/notesMasters/notesMaster1.xml" Id="R20297dc72aaf42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8ff9582cba4cda" /><Relationship Type="http://schemas.openxmlformats.org/officeDocument/2006/relationships/notesMaster" Target="/ppt/notesMasters/notesMaster1.xml" Id="R31dcdbc341324e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0d6cd397e5443e" /><Relationship Type="http://schemas.openxmlformats.org/officeDocument/2006/relationships/notesMaster" Target="/ppt/notesMasters/notesMaster1.xml" Id="R343a9188d13f47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306619fc2f42bf" /><Relationship Type="http://schemas.openxmlformats.org/officeDocument/2006/relationships/notesMaster" Target="/ppt/notesMasters/notesMaster1.xml" Id="Rab3b7662909442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edb5ced65647cf" /><Relationship Type="http://schemas.openxmlformats.org/officeDocument/2006/relationships/notesMaster" Target="/ppt/notesMasters/notesMaster1.xml" Id="R0a66a21e50514d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This project evaluates passage retrieval, not generated answer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Illustrative conversation and passage topics. History and current query feed query formulation. Search uses a passage index. Project evaluation ends at ranked passages; downstream answer generation is a usage scenario, not an evaluated component.</a:t>
            </a:r>
          </a:p>
          <a:p xmlns:a="http://schemas.openxmlformats.org/drawingml/2006/main">
            <a:r>
              <a:t>Visual generated with the built-in ImageGen tool. Diagram text is rasterized.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Raw uses the latest user utterance only. The official CAsT manual rewrite provides the Human reference input. Both use the same BM25 setup. Query quotations correspond to CAsT 2020 turn 81_3. Passage titles are illustrative, not actual recorded results, and do not imply guaranteed Human relevance.</a:t>
            </a:r>
          </a:p>
          <a:p xmlns:a="http://schemas.openxmlformats.org/drawingml/2006/main">
            <a:r>
              <a:t>Visual generated with the built-in ImageGen tool. Diagram text is rasterized.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Implementation: first retrieval on the raw query; use top 10 passages as pseudo-relevant feedback; build feedback model and select 10 terms; interpolate original query and feedback model with original_query_weight=0.5; search again and return top 100 passages. Same index and BM25 parameters for both passes. Feedback passages are assumed relevant, not verified. Query wording, feedback terms and weights depicted as bars are illustrative. No history, LLM or qrels enters expansion.</a:t>
            </a:r>
          </a:p>
          <a:p xmlns:a="http://schemas.openxmlformats.org/drawingml/2006/main">
            <a:r>
              <a:t>Visual generated with the built-in ImageGen tool. Diagram text is rasterized.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Both methods take the current user query and preceding user utterances, including unjudged turns. No assistant answers or retrieved passages enter the LLM. Model gemma4:31b via Ollama Cloud; temperature 0; num_predict 128; think false. Rewriter 1 produces a standalone query. In a separate call, Rewriter 2 finalizes its own base and appends zero to three equivalent terms within that same call. It does not reuse Rewriter 1 output. Examples are illustrative. The prompts request preservation of intent, constraints and supported entities, without speculative facts. Prompt compliance is not guaranteed.</a:t>
            </a:r>
          </a:p>
          <a:p xmlns:a="http://schemas.openxmlformats.org/drawingml/2006/main">
            <a:r>
              <a:t>Visual generated with the built-in ImageGen tool. Diagram text is rasterized.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External source: Dalton, Xiong, and Callan, CAsT 2020: The Conversational Assistance Track Overview, https://trec.nist.gov/pubs/trec29/papers/OVERVIEW.C.pdf . Official task: rank passages for each conversational turn. Dataset has 25 topics and 216 turns. Project README and notebook document 208 judged turns and 40,451 judgments. Corpus comprises MS MARCO and Wikipedia TREC CAR passages. The dataset also provides canonical responses, which this project does not feed to the rewriter. Manual rewrites are a reference, not a guaranteed theoretical upper bound.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Method mapping: Raw=raw, PRF (RM3)=raw_rm3, Rewrite=rewriter 1, Rewrite + Keywords=rewriter 2, Human=human. Exact values are read from aggregate_metrics.csv and rounded to four decimals for display. Each run CSV has 208 distinct query IDs and 20,800 result rows. No new benchmark was run for this deck. nDCG@10 measures ranking quality with graded relevance; Recall@100 measures the fraction of relevant passages retrieved; RR@10 measures the reciprocal rank of the first relevant result in the top ten. Higher is better. Relative nDCG improvement of Rewrite + Keywords over Rewrite is 2.287%; difference is 0.0052856291. Statistical significance has not been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notebooks/colab_benchmark.ipynb; cast2020_results/aggregate_metrics.csv; cast2020_results/ollama_rewrites.csv. Local project snapshot inspected on 2026-09-23.</a:t>
            </a:r>
          </a:p>
          <a:p xmlns:a="http://schemas.openxmlformats.org/drawingml/2006/main">
            <a:r>
              <a:t>Per-query evidence: llm_minus_raw_per_query.csv contains 140 improved, 40 tied, and 28 degraded queries for Rewriter 2 versus Raw on nDCG@10. The rewriters use different full prompts and independently generated bases, so the comparison is not a controlled keywords-only ablation. Cloud provider, latency, cost, and model-version reproducibility require further measurement. CAsT 2020 can contain references to previous response passages; user-only history omits that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f03d6cc5974c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b30a22d529473c" /><Relationship Type="http://schemas.openxmlformats.org/officeDocument/2006/relationships/slideLayout" Target="/ppt/slideLayouts/slideLayout1.xml" Id="R841fb1e8c9c64e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1fb1e8c9c64e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630f0364c44f18" /><Relationship Type="http://schemas.openxmlformats.org/officeDocument/2006/relationships/notesSlide" Target="/ppt/notesSlides/notesSlide1.xml" Id="R04800f1a42864b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352215d6044786" /><Relationship Type="http://schemas.openxmlformats.org/officeDocument/2006/relationships/image" Target="/ppt/media/image.png" Id="Reb6a194320534573" /><Relationship Type="http://schemas.openxmlformats.org/officeDocument/2006/relationships/notesSlide" Target="/ppt/notesSlides/notesSlide2.xml" Id="Rc355da0b242e49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0c9b2668c94e3c" /><Relationship Type="http://schemas.openxmlformats.org/officeDocument/2006/relationships/image" Target="/ppt/media/image2.png" Id="Rb8f3ade70b3a4c39" /><Relationship Type="http://schemas.openxmlformats.org/officeDocument/2006/relationships/notesSlide" Target="/ppt/notesSlides/notesSlide3.xml" Id="R55a756240b2347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503f7e135d4293" /><Relationship Type="http://schemas.openxmlformats.org/officeDocument/2006/relationships/image" Target="/ppt/media/image3.png" Id="R66a1a3423d364385" /><Relationship Type="http://schemas.openxmlformats.org/officeDocument/2006/relationships/notesSlide" Target="/ppt/notesSlides/notesSlide4.xml" Id="R52ad67f09f3044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29a99ef19b48ce" /><Relationship Type="http://schemas.openxmlformats.org/officeDocument/2006/relationships/image" Target="/ppt/media/image4.png" Id="R332520d844834c68" /><Relationship Type="http://schemas.openxmlformats.org/officeDocument/2006/relationships/notesSlide" Target="/ppt/notesSlides/notesSlide5.xml" Id="R4b23b4a56fb54e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7a41e65d1b4d98" /><Relationship Type="http://schemas.openxmlformats.org/officeDocument/2006/relationships/notesSlide" Target="/ppt/notesSlides/notesSlide6.xml" Id="R7da3fa3c0dd949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45ba33cd954d21" /><Relationship Type="http://schemas.openxmlformats.org/officeDocument/2006/relationships/notesSlide" Target="/ppt/notesSlides/notesSlide7.xml" Id="R186b1553992748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bea28668cf946bc" /><Relationship Type="http://schemas.openxmlformats.org/officeDocument/2006/relationships/notesSlide" Target="/ppt/notesSlides/notesSlide8.xml" Id="R4afe5443491b48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dd531f9e05c4718" /><Relationship Type="http://schemas.openxmlformats.org/officeDocument/2006/relationships/notesSlide" Target="/ppt/notesSlides/notesSlide9.xml" Id="R604f1f6a16f944b3" /></Relationships>
</file>

<file path=ppt/slides/slide1.xml><?xml version="1.0" encoding="utf-8"?>
<p:sld xmlns:p="http://schemas.openxmlformats.org/presentationml/2006/main">
  <p:cSld>
    <p:bg>
      <p:bgPr>
        <a:solidFill xmlns:a="http://schemas.openxmlformats.org/drawingml/2006/main">
          <a:srgbClr val="152A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B19786B-48E8-46FA-8721-5E978D6043A9}"/>
              </a:ext>
            </a:extLst>
          </p:cNvPr>
          <p:cNvSpPr>
            <a:spLocks xmlns:a="http://schemas.openxmlformats.org/drawingml/2006/main" noGrp="1"/>
          </p:cNvSpPr>
          <p:nvPr/>
        </p:nvSpPr>
        <p:spPr>
          <a:xfrm xmlns:a="http://schemas.openxmlformats.org/drawingml/2006/main">
            <a:off x="723900" y="152400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LLM-Based</a:t>
            </a:r>
          </a:p>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Query Rewriting</a:t>
            </a:r>
          </a:p>
        </p:txBody>
      </p:sp>
      <p:sp>
        <p:nvSpPr>
          <p:cNvPr id="2" name="">
            <a:extLst xmlns:a="http://schemas.openxmlformats.org/drawingml/2006/main">
              <a:ext uri="{FF2B5EF4-FFF2-40B4-BE49-F238E27FC236}">
                <a16:creationId xmlns:a16="http://schemas.microsoft.com/office/drawing/2014/main" id="{187A6B34-28E8-471D-A4E7-0E64812F7B9C}"/>
              </a:ext>
            </a:extLst>
          </p:cNvPr>
          <p:cNvSpPr>
            <a:spLocks xmlns:a="http://schemas.openxmlformats.org/drawingml/2006/main" noGrp="1"/>
          </p:cNvSpPr>
          <p:nvPr/>
        </p:nvSpPr>
        <p:spPr>
          <a:xfrm xmlns:a="http://schemas.openxmlformats.org/drawingml/2006/main">
            <a:off x="762000" y="39719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C8DEEC"/>
                </a:solidFill>
                <a:latin typeface="Helvetica Neue"/>
                <a:ea typeface="Helvetica Neue"/>
                <a:cs typeface="Helvetica Neue"/>
              </a:defRPr>
            </a:pPr>
            <a:r>
              <a:rPr sz="2250" b="0">
                <a:solidFill>
                  <a:srgbClr val="C8DEEC"/>
                </a:solidFill>
                <a:latin typeface="Helvetica Neue"/>
                <a:ea typeface="Helvetica Neue"/>
                <a:cs typeface="Helvetica Neue"/>
              </a:rPr>
              <a:t>Conversational passage retrieval on TREC CAsT 2020</a:t>
            </a:r>
          </a:p>
        </p:txBody>
      </p:sp>
      <p:sp>
        <p:nvSpPr>
          <p:cNvPr id="3" name="">
            <a:extLst xmlns:a="http://schemas.openxmlformats.org/drawingml/2006/main">
              <a:ext uri="{FF2B5EF4-FFF2-40B4-BE49-F238E27FC236}">
                <a16:creationId xmlns:a16="http://schemas.microsoft.com/office/drawing/2014/main" id="{BE8FDA02-B726-4C08-BF13-329B16037139}"/>
              </a:ext>
            </a:extLst>
          </p:cNvPr>
          <p:cNvSpPr>
            <a:spLocks xmlns:a="http://schemas.openxmlformats.org/drawingml/2006/main" noGrp="1"/>
          </p:cNvSpPr>
          <p:nvPr/>
        </p:nvSpPr>
        <p:spPr>
          <a:xfrm xmlns:a="http://schemas.openxmlformats.org/drawingml/2006/main">
            <a:off x="762000" y="47434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8DEEC"/>
                </a:solidFill>
                <a:latin typeface="Helvetica Neue"/>
                <a:ea typeface="Helvetica Neue"/>
                <a:cs typeface="Helvetica Neue"/>
              </a:defRPr>
            </a:pPr>
            <a:r>
              <a:rPr sz="1800" b="0">
                <a:solidFill>
                  <a:srgbClr val="C8DEEC"/>
                </a:solidFill>
                <a:latin typeface="Helvetica Neue"/>
                <a:ea typeface="Helvetica Neue"/>
                <a:cs typeface="Helvetica Neue"/>
              </a:rPr>
              <a:t>Raw queries, pseudo-relevance feedback, and contextual rewriting</a:t>
            </a:r>
          </a:p>
        </p:txBody>
      </p:sp>
    </p:spTree>
    <p:extLst>
      <p:ext uri="{BB962C8B-B14F-4D97-AF65-F5344CB8AC3E}">
        <p14:creationId xmlns:p14="http://schemas.microsoft.com/office/powerpoint/2010/main" val="20643445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9A30C760-5A8F-44B6-95F5-9E632D8FC25F}"/>
              </a:ext>
            </a:extLst>
          </p:cNvPr>
          <p:cNvSpPr>
            <a:spLocks xmlns:a="http://schemas.openxmlformats.org/drawingml/2006/main" noGrp="1"/>
          </p:cNvSpPr>
          <p:nvPr/>
        </p:nvSpPr>
        <p:spPr>
          <a:xfrm xmlns:a="http://schemas.openxmlformats.org/drawingml/2006/main">
            <a:off x="457200" y="266700"/>
            <a:ext cx="11277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2A3A"/>
                </a:solidFill>
                <a:latin typeface="Helvetica Neue"/>
                <a:ea typeface="Helvetica Neue"/>
                <a:cs typeface="Helvetica Neue"/>
              </a:defRPr>
            </a:pPr>
            <a:r>
              <a:rPr sz="3000" b="1">
                <a:solidFill>
                  <a:srgbClr val="152A3A"/>
                </a:solidFill>
                <a:latin typeface="Helvetica Neue"/>
                <a:ea typeface="Helvetica Neue"/>
                <a:cs typeface="Helvetica Neue"/>
              </a:rPr>
              <a:t>Conversational search: the retrieval workflow</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eb6a194320534573"/>
          <a:stretch xmlns:a="http://schemas.openxmlformats.org/drawingml/2006/main"/>
        </p:blipFill>
        <p:spPr>
          <a:xfrm xmlns:a="http://schemas.openxmlformats.org/drawingml/2006/main">
            <a:off x="304800" y="990600"/>
            <a:ext cx="11582400" cy="5791200"/>
          </a:xfrm>
          <a:prstGeom xmlns:a="http://schemas.openxmlformats.org/drawingml/2006/main" prst="rect">
            <a:avLst/>
          </a:prstGeom>
        </p:spPr>
      </p:pic>
    </p:spTree>
    <p:extLst>
      <p:ext uri="{BB962C8B-B14F-4D97-AF65-F5344CB8AC3E}">
        <p14:creationId xmlns:p14="http://schemas.microsoft.com/office/powerpoint/2010/main" val="16305477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9A700C88-17AD-417F-8138-719C786A5BCC}"/>
              </a:ext>
            </a:extLst>
          </p:cNvPr>
          <p:cNvSpPr>
            <a:spLocks xmlns:a="http://schemas.openxmlformats.org/drawingml/2006/main" noGrp="1"/>
          </p:cNvSpPr>
          <p:nvPr/>
        </p:nvSpPr>
        <p:spPr>
          <a:xfrm xmlns:a="http://schemas.openxmlformats.org/drawingml/2006/main">
            <a:off x="457200" y="266700"/>
            <a:ext cx="11277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2A3A"/>
                </a:solidFill>
                <a:latin typeface="Helvetica Neue"/>
                <a:ea typeface="Helvetica Neue"/>
                <a:cs typeface="Helvetica Neue"/>
              </a:defRPr>
            </a:pPr>
            <a:r>
              <a:rPr sz="3000" b="1">
                <a:solidFill>
                  <a:srgbClr val="152A3A"/>
                </a:solidFill>
                <a:latin typeface="Helvetica Neue"/>
                <a:ea typeface="Helvetica Neue"/>
                <a:cs typeface="Helvetica Neue"/>
              </a:rPr>
              <a:t>Raw queries and the Human reference</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b8f3ade70b3a4c39"/>
          <a:stretch xmlns:a="http://schemas.openxmlformats.org/drawingml/2006/main"/>
        </p:blipFill>
        <p:spPr>
          <a:xfrm xmlns:a="http://schemas.openxmlformats.org/drawingml/2006/main">
            <a:off x="304800" y="990600"/>
            <a:ext cx="11582400" cy="5791200"/>
          </a:xfrm>
          <a:prstGeom xmlns:a="http://schemas.openxmlformats.org/drawingml/2006/main" prst="rect">
            <a:avLst/>
          </a:prstGeom>
        </p:spPr>
      </p:pic>
    </p:spTree>
    <p:extLst>
      <p:ext uri="{BB962C8B-B14F-4D97-AF65-F5344CB8AC3E}">
        <p14:creationId xmlns:p14="http://schemas.microsoft.com/office/powerpoint/2010/main" val="17498221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F8E1FC18-3573-496E-BE29-BD961AEAF268}"/>
              </a:ext>
            </a:extLst>
          </p:cNvPr>
          <p:cNvSpPr>
            <a:spLocks xmlns:a="http://schemas.openxmlformats.org/drawingml/2006/main" noGrp="1"/>
          </p:cNvSpPr>
          <p:nvPr/>
        </p:nvSpPr>
        <p:spPr>
          <a:xfrm xmlns:a="http://schemas.openxmlformats.org/drawingml/2006/main">
            <a:off x="457200" y="266700"/>
            <a:ext cx="11277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2A3A"/>
                </a:solidFill>
                <a:latin typeface="Helvetica Neue"/>
                <a:ea typeface="Helvetica Neue"/>
                <a:cs typeface="Helvetica Neue"/>
              </a:defRPr>
            </a:pPr>
            <a:r>
              <a:rPr sz="3000" b="1">
                <a:solidFill>
                  <a:srgbClr val="152A3A"/>
                </a:solidFill>
                <a:latin typeface="Helvetica Neue"/>
                <a:ea typeface="Helvetica Neue"/>
                <a:cs typeface="Helvetica Neue"/>
              </a:rPr>
              <a:t>PRF: two retrieval passes with RM3</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66a1a3423d364385"/>
          <a:stretch xmlns:a="http://schemas.openxmlformats.org/drawingml/2006/main"/>
        </p:blipFill>
        <p:spPr>
          <a:xfrm xmlns:a="http://schemas.openxmlformats.org/drawingml/2006/main">
            <a:off x="304800" y="990600"/>
            <a:ext cx="11582400" cy="5791200"/>
          </a:xfrm>
          <a:prstGeom xmlns:a="http://schemas.openxmlformats.org/drawingml/2006/main" prst="rect">
            <a:avLst/>
          </a:prstGeom>
        </p:spPr>
      </p:pic>
    </p:spTree>
    <p:extLst>
      <p:ext uri="{BB962C8B-B14F-4D97-AF65-F5344CB8AC3E}">
        <p14:creationId xmlns:p14="http://schemas.microsoft.com/office/powerpoint/2010/main" val="5008645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83D8D263-3A34-411D-A626-201797DA3AC7}"/>
              </a:ext>
            </a:extLst>
          </p:cNvPr>
          <p:cNvSpPr>
            <a:spLocks xmlns:a="http://schemas.openxmlformats.org/drawingml/2006/main" noGrp="1"/>
          </p:cNvSpPr>
          <p:nvPr/>
        </p:nvSpPr>
        <p:spPr>
          <a:xfrm xmlns:a="http://schemas.openxmlformats.org/drawingml/2006/main">
            <a:off x="457200" y="266700"/>
            <a:ext cx="11277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2A3A"/>
                </a:solidFill>
                <a:latin typeface="Helvetica Neue"/>
                <a:ea typeface="Helvetica Neue"/>
                <a:cs typeface="Helvetica Neue"/>
              </a:defRPr>
            </a:pPr>
            <a:r>
              <a:rPr sz="3000" b="1">
                <a:solidFill>
                  <a:srgbClr val="152A3A"/>
                </a:solidFill>
                <a:latin typeface="Helvetica Neue"/>
                <a:ea typeface="Helvetica Neue"/>
                <a:cs typeface="Helvetica Neue"/>
              </a:rPr>
              <a:t>LLM rewriting: two independent prompt workflows</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332520d844834c68"/>
          <a:stretch xmlns:a="http://schemas.openxmlformats.org/drawingml/2006/main"/>
        </p:blipFill>
        <p:spPr>
          <a:xfrm xmlns:a="http://schemas.openxmlformats.org/drawingml/2006/main">
            <a:off x="304800" y="990600"/>
            <a:ext cx="11582400" cy="5791200"/>
          </a:xfrm>
          <a:prstGeom xmlns:a="http://schemas.openxmlformats.org/drawingml/2006/main" prst="rect">
            <a:avLst/>
          </a:prstGeom>
        </p:spPr>
      </p:pic>
    </p:spTree>
    <p:extLst>
      <p:ext uri="{BB962C8B-B14F-4D97-AF65-F5344CB8AC3E}">
        <p14:creationId xmlns:p14="http://schemas.microsoft.com/office/powerpoint/2010/main" val="271519435"/>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902CA96-A39B-4E6B-B150-76A14E2C0927}"/>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TREC CAsT 2020: what the dataset contains</a:t>
            </a:r>
          </a:p>
        </p:txBody>
      </p:sp>
      <p:sp>
        <p:nvSpPr>
          <p:cNvPr id="2" name="">
            <a:extLst xmlns:a="http://schemas.openxmlformats.org/drawingml/2006/main">
              <a:ext uri="{FF2B5EF4-FFF2-40B4-BE49-F238E27FC236}">
                <a16:creationId xmlns:a16="http://schemas.microsoft.com/office/drawing/2014/main" id="{03F5E457-3477-4EBE-B039-CE389183CCB5}"/>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260AD44B-28E8-499D-A9FB-71EFA841DCD3}"/>
              </a:ext>
            </a:extLst>
          </p:cNvPr>
          <p:cNvSpPr>
            <a:spLocks xmlns:a="http://schemas.openxmlformats.org/drawingml/2006/main" noGrp="1"/>
          </p:cNvSpPr>
          <p:nvPr/>
        </p:nvSpPr>
        <p:spPr>
          <a:xfrm xmlns:a="http://schemas.openxmlformats.org/drawingml/2006/main">
            <a:off x="609600" y="13620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6BBA"/>
                </a:solidFill>
                <a:latin typeface="Helvetica Neue"/>
                <a:ea typeface="Helvetica Neue"/>
                <a:cs typeface="Helvetica Neue"/>
              </a:defRPr>
            </a:pPr>
            <a:r>
              <a:rPr sz="4875" b="1">
                <a:solidFill>
                  <a:srgbClr val="176BBA"/>
                </a:solidFill>
                <a:latin typeface="Helvetica Neue"/>
                <a:ea typeface="Helvetica Neue"/>
                <a:cs typeface="Helvetica Neue"/>
              </a:rPr>
              <a:t>25</a:t>
            </a:r>
          </a:p>
        </p:txBody>
      </p:sp>
      <p:sp>
        <p:nvSpPr>
          <p:cNvPr id="4" name="">
            <a:extLst xmlns:a="http://schemas.openxmlformats.org/drawingml/2006/main">
              <a:ext uri="{FF2B5EF4-FFF2-40B4-BE49-F238E27FC236}">
                <a16:creationId xmlns:a16="http://schemas.microsoft.com/office/drawing/2014/main" id="{D7A0CDFD-5B7B-4E8D-9019-DE4BBB3EBD77}"/>
              </a:ext>
            </a:extLst>
          </p:cNvPr>
          <p:cNvSpPr>
            <a:spLocks xmlns:a="http://schemas.openxmlformats.org/drawingml/2006/main" noGrp="1"/>
          </p:cNvSpPr>
          <p:nvPr/>
        </p:nvSpPr>
        <p:spPr>
          <a:xfrm xmlns:a="http://schemas.openxmlformats.org/drawingml/2006/main">
            <a:off x="609600" y="225742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conversations</a:t>
            </a:r>
          </a:p>
        </p:txBody>
      </p:sp>
      <p:sp>
        <p:nvSpPr>
          <p:cNvPr id="5" name="">
            <a:extLst xmlns:a="http://schemas.openxmlformats.org/drawingml/2006/main">
              <a:ext uri="{FF2B5EF4-FFF2-40B4-BE49-F238E27FC236}">
                <a16:creationId xmlns:a16="http://schemas.microsoft.com/office/drawing/2014/main" id="{AD60DE7D-2535-4B9F-B166-70EEE84174F8}"/>
              </a:ext>
            </a:extLst>
          </p:cNvPr>
          <p:cNvSpPr>
            <a:spLocks xmlns:a="http://schemas.openxmlformats.org/drawingml/2006/main" noGrp="1"/>
          </p:cNvSpPr>
          <p:nvPr/>
        </p:nvSpPr>
        <p:spPr>
          <a:xfrm xmlns:a="http://schemas.openxmlformats.org/drawingml/2006/main">
            <a:off x="4495800" y="13620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6BBA"/>
                </a:solidFill>
                <a:latin typeface="Helvetica Neue"/>
                <a:ea typeface="Helvetica Neue"/>
                <a:cs typeface="Helvetica Neue"/>
              </a:defRPr>
            </a:pPr>
            <a:r>
              <a:rPr sz="4875" b="1">
                <a:solidFill>
                  <a:srgbClr val="176BBA"/>
                </a:solidFill>
                <a:latin typeface="Helvetica Neue"/>
                <a:ea typeface="Helvetica Neue"/>
                <a:cs typeface="Helvetica Neue"/>
              </a:rPr>
              <a:t>216</a:t>
            </a:r>
          </a:p>
        </p:txBody>
      </p:sp>
      <p:sp>
        <p:nvSpPr>
          <p:cNvPr id="6" name="">
            <a:extLst xmlns:a="http://schemas.openxmlformats.org/drawingml/2006/main">
              <a:ext uri="{FF2B5EF4-FFF2-40B4-BE49-F238E27FC236}">
                <a16:creationId xmlns:a16="http://schemas.microsoft.com/office/drawing/2014/main" id="{0C2B2BC1-E891-413B-8C64-69625B45674A}"/>
              </a:ext>
            </a:extLst>
          </p:cNvPr>
          <p:cNvSpPr>
            <a:spLocks xmlns:a="http://schemas.openxmlformats.org/drawingml/2006/main" noGrp="1"/>
          </p:cNvSpPr>
          <p:nvPr/>
        </p:nvSpPr>
        <p:spPr>
          <a:xfrm xmlns:a="http://schemas.openxmlformats.org/drawingml/2006/main">
            <a:off x="4495800" y="22574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total turns</a:t>
            </a:r>
          </a:p>
        </p:txBody>
      </p:sp>
      <p:sp>
        <p:nvSpPr>
          <p:cNvPr id="7" name="">
            <a:extLst xmlns:a="http://schemas.openxmlformats.org/drawingml/2006/main">
              <a:ext uri="{FF2B5EF4-FFF2-40B4-BE49-F238E27FC236}">
                <a16:creationId xmlns:a16="http://schemas.microsoft.com/office/drawing/2014/main" id="{BC55A8A1-FBBA-4D7A-A2BA-F8D370189C7D}"/>
              </a:ext>
            </a:extLst>
          </p:cNvPr>
          <p:cNvSpPr>
            <a:spLocks xmlns:a="http://schemas.openxmlformats.org/drawingml/2006/main" noGrp="1"/>
          </p:cNvSpPr>
          <p:nvPr/>
        </p:nvSpPr>
        <p:spPr>
          <a:xfrm xmlns:a="http://schemas.openxmlformats.org/drawingml/2006/main">
            <a:off x="8420100" y="13620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007D72"/>
                </a:solidFill>
                <a:latin typeface="Helvetica Neue"/>
                <a:ea typeface="Helvetica Neue"/>
                <a:cs typeface="Helvetica Neue"/>
              </a:defRPr>
            </a:pPr>
            <a:r>
              <a:rPr sz="4875" b="1">
                <a:solidFill>
                  <a:srgbClr val="007D72"/>
                </a:solidFill>
                <a:latin typeface="Helvetica Neue"/>
                <a:ea typeface="Helvetica Neue"/>
                <a:cs typeface="Helvetica Neue"/>
              </a:rPr>
              <a:t>208</a:t>
            </a:r>
          </a:p>
        </p:txBody>
      </p:sp>
      <p:sp>
        <p:nvSpPr>
          <p:cNvPr id="8" name="">
            <a:extLst xmlns:a="http://schemas.openxmlformats.org/drawingml/2006/main">
              <a:ext uri="{FF2B5EF4-FFF2-40B4-BE49-F238E27FC236}">
                <a16:creationId xmlns:a16="http://schemas.microsoft.com/office/drawing/2014/main" id="{289F767C-15A8-4ED6-A474-C488B1761414}"/>
              </a:ext>
            </a:extLst>
          </p:cNvPr>
          <p:cNvSpPr>
            <a:spLocks xmlns:a="http://schemas.openxmlformats.org/drawingml/2006/main" noGrp="1"/>
          </p:cNvSpPr>
          <p:nvPr/>
        </p:nvSpPr>
        <p:spPr>
          <a:xfrm xmlns:a="http://schemas.openxmlformats.org/drawingml/2006/main">
            <a:off x="8420100" y="22574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turns with judgments</a:t>
            </a:r>
          </a:p>
        </p:txBody>
      </p:sp>
      <p:sp>
        <p:nvSpPr>
          <p:cNvPr id="9" name="">
            <a:extLst xmlns:a="http://schemas.openxmlformats.org/drawingml/2006/main">
              <a:ext uri="{FF2B5EF4-FFF2-40B4-BE49-F238E27FC236}">
                <a16:creationId xmlns:a16="http://schemas.microsoft.com/office/drawing/2014/main" id="{6D6F3F43-F91E-4FC5-A2CA-183C08517020}"/>
              </a:ext>
            </a:extLst>
          </p:cNvPr>
          <p:cNvSpPr>
            <a:spLocks xmlns:a="http://schemas.openxmlformats.org/drawingml/2006/main" noGrp="1"/>
          </p:cNvSpPr>
          <p:nvPr/>
        </p:nvSpPr>
        <p:spPr>
          <a:xfrm xmlns:a="http://schemas.openxmlformats.org/drawingml/2006/main">
            <a:off x="609600" y="32766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Conversation data</a:t>
            </a:r>
          </a:p>
        </p:txBody>
      </p:sp>
      <p:sp>
        <p:nvSpPr>
          <p:cNvPr id="10" name="">
            <a:extLst xmlns:a="http://schemas.openxmlformats.org/drawingml/2006/main">
              <a:ext uri="{FF2B5EF4-FFF2-40B4-BE49-F238E27FC236}">
                <a16:creationId xmlns:a16="http://schemas.microsoft.com/office/drawing/2014/main" id="{F16E1522-5BD2-4363-ACAA-FAD2100B4356}"/>
              </a:ext>
            </a:extLst>
          </p:cNvPr>
          <p:cNvSpPr>
            <a:spLocks xmlns:a="http://schemas.openxmlformats.org/drawingml/2006/main" noGrp="1"/>
          </p:cNvSpPr>
          <p:nvPr/>
        </p:nvSpPr>
        <p:spPr>
          <a:xfrm xmlns:a="http://schemas.openxmlformats.org/drawingml/2006/main">
            <a:off x="609600" y="3857625"/>
            <a:ext cx="4953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Ordered user utterances</a:t>
            </a:r>
          </a:p>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Manual standalone rewrites</a:t>
            </a:r>
          </a:p>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Canonical response passages</a:t>
            </a:r>
          </a:p>
        </p:txBody>
      </p:sp>
      <p:sp>
        <p:nvSpPr>
          <p:cNvPr id="11" name="">
            <a:extLst xmlns:a="http://schemas.openxmlformats.org/drawingml/2006/main">
              <a:ext uri="{FF2B5EF4-FFF2-40B4-BE49-F238E27FC236}">
                <a16:creationId xmlns:a16="http://schemas.microsoft.com/office/drawing/2014/main" id="{35725879-60C0-4626-A446-A77CA9305B14}"/>
              </a:ext>
            </a:extLst>
          </p:cNvPr>
          <p:cNvSpPr>
            <a:spLocks xmlns:a="http://schemas.openxmlformats.org/drawingml/2006/main" noGrp="1"/>
          </p:cNvSpPr>
          <p:nvPr/>
        </p:nvSpPr>
        <p:spPr>
          <a:xfrm xmlns:a="http://schemas.openxmlformats.org/drawingml/2006/main">
            <a:off x="6372225" y="32766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Retrieval and evaluation data</a:t>
            </a:r>
          </a:p>
        </p:txBody>
      </p:sp>
      <p:sp>
        <p:nvSpPr>
          <p:cNvPr id="12" name="">
            <a:extLst xmlns:a="http://schemas.openxmlformats.org/drawingml/2006/main">
              <a:ext uri="{FF2B5EF4-FFF2-40B4-BE49-F238E27FC236}">
                <a16:creationId xmlns:a16="http://schemas.microsoft.com/office/drawing/2014/main" id="{DE32D017-9DAF-4767-974F-84AD872440FF}"/>
              </a:ext>
            </a:extLst>
          </p:cNvPr>
          <p:cNvSpPr>
            <a:spLocks xmlns:a="http://schemas.openxmlformats.org/drawingml/2006/main" noGrp="1"/>
          </p:cNvSpPr>
          <p:nvPr/>
        </p:nvSpPr>
        <p:spPr>
          <a:xfrm xmlns:a="http://schemas.openxmlformats.org/drawingml/2006/main">
            <a:off x="6372225" y="3857625"/>
            <a:ext cx="5238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MS MARCO + Wikipedia CAR passages</a:t>
            </a:r>
          </a:p>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Query–passage relevance judgments</a:t>
            </a:r>
          </a:p>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40,451 judgments in the project setup</a:t>
            </a:r>
          </a:p>
        </p:txBody>
      </p:sp>
      <p:sp>
        <p:nvSpPr>
          <p:cNvPr id="13" name="">
            <a:extLst xmlns:a="http://schemas.openxmlformats.org/drawingml/2006/main">
              <a:ext uri="{FF2B5EF4-FFF2-40B4-BE49-F238E27FC236}">
                <a16:creationId xmlns:a16="http://schemas.microsoft.com/office/drawing/2014/main" id="{66B4DD51-693F-4A5A-87D3-DC6A7D735B16}"/>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5"/>
                </a:solidFill>
                <a:latin typeface="Helvetica Neue"/>
                <a:ea typeface="Helvetica Neue"/>
                <a:cs typeface="Helvetica Neue"/>
              </a:defRPr>
            </a:pPr>
            <a:r>
              <a:rPr sz="1425" b="0">
                <a:solidFill>
                  <a:srgbClr val="536575"/>
                </a:solidFill>
                <a:latin typeface="Helvetica Neue"/>
                <a:ea typeface="Helvetica Neue"/>
                <a:cs typeface="Helvetica Neue"/>
              </a:rPr>
              <a:t>History uses all preceding user turns. Evaluation uses only the 208 judged turns.</a:t>
            </a:r>
          </a:p>
        </p:txBody>
      </p:sp>
    </p:spTree>
    <p:extLst>
      <p:ext uri="{BB962C8B-B14F-4D97-AF65-F5344CB8AC3E}">
        <p14:creationId xmlns:p14="http://schemas.microsoft.com/office/powerpoint/2010/main" val="952510313"/>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3AFB2D-8468-4C8D-8750-65E2BFDCD8A1}"/>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Benchmark: five methods on CAsT 2020</a:t>
            </a:r>
          </a:p>
        </p:txBody>
      </p:sp>
      <p:sp>
        <p:nvSpPr>
          <p:cNvPr id="2" name="">
            <a:extLst xmlns:a="http://schemas.openxmlformats.org/drawingml/2006/main">
              <a:ext uri="{FF2B5EF4-FFF2-40B4-BE49-F238E27FC236}">
                <a16:creationId xmlns:a16="http://schemas.microsoft.com/office/drawing/2014/main" id="{A60BE73F-6BA0-4BE2-BF5B-F4CF4BABB913}"/>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47FAB6BD-5076-4A70-BBA7-4FA28F6B566E}"/>
              </a:ext>
            </a:extLst>
          </p:cNvPr>
          <p:cNvSpPr>
            <a:spLocks xmlns:a="http://schemas.openxmlformats.org/drawingml/2006/main" noGrp="1"/>
          </p:cNvSpPr>
          <p:nvPr/>
        </p:nvSpPr>
        <p:spPr>
          <a:xfrm xmlns:a="http://schemas.openxmlformats.org/drawingml/2006/main">
            <a:off x="609600" y="12382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5"/>
                </a:solidFill>
                <a:latin typeface="Helvetica Neue"/>
                <a:ea typeface="Helvetica Neue"/>
                <a:cs typeface="Helvetica Neue"/>
              </a:defRPr>
            </a:pPr>
            <a:r>
              <a:rPr sz="1800" b="0">
                <a:solidFill>
                  <a:srgbClr val="536575"/>
                </a:solidFill>
                <a:latin typeface="Helvetica Neue"/>
                <a:ea typeface="Helvetica Neue"/>
                <a:cs typeface="Helvetica Neue"/>
              </a:rPr>
              <a:t>Shared setup: BM25 (k₁ = 0.9, b = 0.4), cast2019 index, top 100, 208 turns</a:t>
            </a:r>
          </a:p>
        </p:txBody>
      </p:sp>
      <p:graphicFrame>
        <p:nvGraphicFramePr>
          <p:cNvPr id="10" name=""/>
          <p:cNvGraphicFramePr/>
          <p:nvPr/>
        </p:nvGraphicFramePr>
        <p:xfrm>
          <a:off xmlns:a="http://schemas.openxmlformats.org/drawingml/2006/main" x="609600" y="1943100"/>
          <a:ext xmlns:a="http://schemas.openxmlformats.org/drawingml/2006/main" cx="10972800" cy="2924175"/>
        </p:xfrm>
        <a:graphic xmlns:a="http://schemas.openxmlformats.org/drawingml/2006/main">
          <a:graphicData uri="http://schemas.openxmlformats.org/drawingml/2006/table">
            <a:tbl>
              <a:tblPr/>
              <a:tblGrid>
                <a:gridCol w="4286250"/>
                <a:gridCol w="2228850"/>
                <a:gridCol w="2228850"/>
                <a:gridCol w="2228850"/>
              </a:tblGrid>
              <a:tr h="485775">
                <a:tc>
                  <a:txBody>
                    <a:bodyPr/>
                    <a:lstStyle/>
                    <a:p>
                      <a:r>
                        <a:rPr sz="1950" b="1">
                          <a:solidFill>
                            <a:srgbClr val="FFFFFF"/>
                          </a:solidFill>
                          <a:latin typeface="Helvetica Neue"/>
                          <a:ea typeface="Helvetica Neue"/>
                          <a:cs typeface="Helvetica Neue"/>
                        </a:rPr>
                        <a:t>Method</a:t>
                      </a:r>
                    </a:p>
                  </a:txBody>
                  <a:tcPr marL="91440" marR="91440" marT="45720" marB="45720">
                    <a:solidFill>
                      <a:srgbClr val="152A3A"/>
                    </a:solidFill>
                  </a:tcPr>
                </a:tc>
                <a:tc>
                  <a:txBody>
                    <a:bodyPr/>
                    <a:lstStyle/>
                    <a:p>
                      <a:r>
                        <a:rPr sz="1950" b="1">
                          <a:solidFill>
                            <a:srgbClr val="FFFFFF"/>
                          </a:solidFill>
                          <a:latin typeface="Helvetica Neue"/>
                          <a:ea typeface="Helvetica Neue"/>
                          <a:cs typeface="Helvetica Neue"/>
                        </a:rPr>
                        <a:t>nDCG@10</a:t>
                      </a:r>
                    </a:p>
                  </a:txBody>
                  <a:tcPr marL="91440" marR="91440" marT="45720" marB="45720">
                    <a:solidFill>
                      <a:srgbClr val="152A3A"/>
                    </a:solidFill>
                  </a:tcPr>
                </a:tc>
                <a:tc>
                  <a:txBody>
                    <a:bodyPr/>
                    <a:lstStyle/>
                    <a:p>
                      <a:r>
                        <a:rPr sz="1950" b="1">
                          <a:solidFill>
                            <a:srgbClr val="FFFFFF"/>
                          </a:solidFill>
                          <a:latin typeface="Helvetica Neue"/>
                          <a:ea typeface="Helvetica Neue"/>
                          <a:cs typeface="Helvetica Neue"/>
                        </a:rPr>
                        <a:t>Recall@100</a:t>
                      </a:r>
                    </a:p>
                  </a:txBody>
                  <a:tcPr marL="91440" marR="91440" marT="45720" marB="45720">
                    <a:solidFill>
                      <a:srgbClr val="152A3A"/>
                    </a:solidFill>
                  </a:tcPr>
                </a:tc>
                <a:tc>
                  <a:txBody>
                    <a:bodyPr/>
                    <a:lstStyle/>
                    <a:p>
                      <a:r>
                        <a:rPr sz="1950" b="1">
                          <a:solidFill>
                            <a:srgbClr val="FFFFFF"/>
                          </a:solidFill>
                          <a:latin typeface="Helvetica Neue"/>
                          <a:ea typeface="Helvetica Neue"/>
                          <a:cs typeface="Helvetica Neue"/>
                        </a:rPr>
                        <a:t>RR@10</a:t>
                      </a:r>
                    </a:p>
                  </a:txBody>
                  <a:tcPr marL="91440" marR="91440" marT="45720" marB="45720">
                    <a:solidFill>
                      <a:srgbClr val="152A3A"/>
                    </a:solidFill>
                  </a:tcPr>
                </a:tc>
              </a:tr>
              <a:tr h="485775">
                <a:tc>
                  <a:txBody>
                    <a:bodyPr/>
                    <a:lstStyle/>
                    <a:p>
                      <a:r>
                        <a:rPr sz="1950" b="0">
                          <a:solidFill>
                            <a:srgbClr val="152A3A"/>
                          </a:solidFill>
                          <a:latin typeface="Helvetica Neue"/>
                          <a:ea typeface="Helvetica Neue"/>
                          <a:cs typeface="Helvetica Neue"/>
                        </a:rPr>
                        <a:t>Raw</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0.0780</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0.1251</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0.1720</a:t>
                      </a:r>
                    </a:p>
                  </a:txBody>
                  <a:tcPr marL="91440" marR="91440" marT="45720" marB="45720">
                    <a:solidFill>
                      <a:srgbClr val="FFFFFF"/>
                    </a:solidFill>
                  </a:tcPr>
                </a:tc>
              </a:tr>
              <a:tr h="485775">
                <a:tc>
                  <a:txBody>
                    <a:bodyPr/>
                    <a:lstStyle/>
                    <a:p>
                      <a:r>
                        <a:rPr sz="1950" b="0">
                          <a:solidFill>
                            <a:srgbClr val="152A3A"/>
                          </a:solidFill>
                          <a:latin typeface="Helvetica Neue"/>
                          <a:ea typeface="Helvetica Neue"/>
                          <a:cs typeface="Helvetica Neue"/>
                        </a:rPr>
                        <a:t>PRF (RM3)</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0.0905</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0.1415</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0.1784</a:t>
                      </a:r>
                    </a:p>
                  </a:txBody>
                  <a:tcPr marL="91440" marR="91440" marT="45720" marB="45720">
                    <a:solidFill>
                      <a:srgbClr val="FFFFFF"/>
                    </a:solidFill>
                  </a:tcPr>
                </a:tc>
              </a:tr>
              <a:tr h="485775">
                <a:tc>
                  <a:txBody>
                    <a:bodyPr/>
                    <a:lstStyle/>
                    <a:p>
                      <a:r>
                        <a:rPr sz="1950" b="0">
                          <a:solidFill>
                            <a:srgbClr val="152A3A"/>
                          </a:solidFill>
                          <a:latin typeface="Helvetica Neue"/>
                          <a:ea typeface="Helvetica Neue"/>
                          <a:cs typeface="Helvetica Neue"/>
                        </a:rPr>
                        <a:t>Rewrite</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0.2311</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0.3688</a:t>
                      </a:r>
                    </a:p>
                  </a:txBody>
                  <a:tcPr marL="91440" marR="91440" marT="45720" marB="45720">
                    <a:solidFill>
                      <a:srgbClr val="FFFFFF"/>
                    </a:solidFill>
                  </a:tcPr>
                </a:tc>
                <a:tc>
                  <a:txBody>
                    <a:bodyPr/>
                    <a:lstStyle/>
                    <a:p>
                      <a:r>
                        <a:rPr sz="1950" b="0">
                          <a:solidFill>
                            <a:srgbClr val="152A3A"/>
                          </a:solidFill>
                          <a:latin typeface="Helvetica Neue"/>
                          <a:ea typeface="Helvetica Neue"/>
                          <a:cs typeface="Helvetica Neue"/>
                        </a:rPr>
                        <a:t>0.5097</a:t>
                      </a:r>
                    </a:p>
                  </a:txBody>
                  <a:tcPr marL="91440" marR="91440" marT="45720" marB="45720">
                    <a:solidFill>
                      <a:srgbClr val="FFFFFF"/>
                    </a:solidFill>
                  </a:tcPr>
                </a:tc>
              </a:tr>
              <a:tr h="485775">
                <a:tc>
                  <a:txBody>
                    <a:bodyPr/>
                    <a:lstStyle/>
                    <a:p>
                      <a:r>
                        <a:rPr sz="1950" b="1">
                          <a:solidFill>
                            <a:srgbClr val="152A3A"/>
                          </a:solidFill>
                          <a:latin typeface="Helvetica Neue"/>
                          <a:ea typeface="Helvetica Neue"/>
                          <a:cs typeface="Helvetica Neue"/>
                        </a:rPr>
                        <a:t>Rewrite + Keywords</a:t>
                      </a:r>
                    </a:p>
                  </a:txBody>
                  <a:tcPr marL="91440" marR="91440" marT="45720" marB="45720">
                    <a:solidFill>
                      <a:srgbClr val="E0F2EE"/>
                    </a:solidFill>
                  </a:tcPr>
                </a:tc>
                <a:tc>
                  <a:txBody>
                    <a:bodyPr/>
                    <a:lstStyle/>
                    <a:p>
                      <a:r>
                        <a:rPr sz="1950" b="1">
                          <a:solidFill>
                            <a:srgbClr val="152A3A"/>
                          </a:solidFill>
                          <a:latin typeface="Helvetica Neue"/>
                          <a:ea typeface="Helvetica Neue"/>
                          <a:cs typeface="Helvetica Neue"/>
                        </a:rPr>
                        <a:t>0.2364</a:t>
                      </a:r>
                    </a:p>
                  </a:txBody>
                  <a:tcPr marL="91440" marR="91440" marT="45720" marB="45720">
                    <a:solidFill>
                      <a:srgbClr val="E0F2EE"/>
                    </a:solidFill>
                  </a:tcPr>
                </a:tc>
                <a:tc>
                  <a:txBody>
                    <a:bodyPr/>
                    <a:lstStyle/>
                    <a:p>
                      <a:r>
                        <a:rPr sz="1950" b="1">
                          <a:solidFill>
                            <a:srgbClr val="152A3A"/>
                          </a:solidFill>
                          <a:latin typeface="Helvetica Neue"/>
                          <a:ea typeface="Helvetica Neue"/>
                          <a:cs typeface="Helvetica Neue"/>
                        </a:rPr>
                        <a:t>0.3812</a:t>
                      </a:r>
                    </a:p>
                  </a:txBody>
                  <a:tcPr marL="91440" marR="91440" marT="45720" marB="45720">
                    <a:solidFill>
                      <a:srgbClr val="E0F2EE"/>
                    </a:solidFill>
                  </a:tcPr>
                </a:tc>
                <a:tc>
                  <a:txBody>
                    <a:bodyPr/>
                    <a:lstStyle/>
                    <a:p>
                      <a:r>
                        <a:rPr sz="1950" b="1">
                          <a:solidFill>
                            <a:srgbClr val="152A3A"/>
                          </a:solidFill>
                          <a:latin typeface="Helvetica Neue"/>
                          <a:ea typeface="Helvetica Neue"/>
                          <a:cs typeface="Helvetica Neue"/>
                        </a:rPr>
                        <a:t>0.5105</a:t>
                      </a:r>
                    </a:p>
                  </a:txBody>
                  <a:tcPr marL="91440" marR="91440" marT="45720" marB="45720">
                    <a:solidFill>
                      <a:srgbClr val="E0F2EE"/>
                    </a:solidFill>
                  </a:tcPr>
                </a:tc>
              </a:tr>
              <a:tr h="485775">
                <a:tc>
                  <a:txBody>
                    <a:bodyPr/>
                    <a:lstStyle/>
                    <a:p>
                      <a:r>
                        <a:rPr sz="1950" b="1">
                          <a:solidFill>
                            <a:srgbClr val="152A3A"/>
                          </a:solidFill>
                          <a:latin typeface="Helvetica Neue"/>
                          <a:ea typeface="Helvetica Neue"/>
                          <a:cs typeface="Helvetica Neue"/>
                        </a:rPr>
                        <a:t>Human</a:t>
                      </a:r>
                    </a:p>
                  </a:txBody>
                  <a:tcPr marL="91440" marR="91440" marT="45720" marB="45720">
                    <a:solidFill>
                      <a:srgbClr val="E8EEF4"/>
                    </a:solidFill>
                  </a:tcPr>
                </a:tc>
                <a:tc>
                  <a:txBody>
                    <a:bodyPr/>
                    <a:lstStyle/>
                    <a:p>
                      <a:r>
                        <a:rPr sz="1950" b="1">
                          <a:solidFill>
                            <a:srgbClr val="152A3A"/>
                          </a:solidFill>
                          <a:latin typeface="Helvetica Neue"/>
                          <a:ea typeface="Helvetica Neue"/>
                          <a:cs typeface="Helvetica Neue"/>
                        </a:rPr>
                        <a:t>0.2558</a:t>
                      </a:r>
                    </a:p>
                  </a:txBody>
                  <a:tcPr marL="91440" marR="91440" marT="45720" marB="45720">
                    <a:solidFill>
                      <a:srgbClr val="E8EEF4"/>
                    </a:solidFill>
                  </a:tcPr>
                </a:tc>
                <a:tc>
                  <a:txBody>
                    <a:bodyPr/>
                    <a:lstStyle/>
                    <a:p>
                      <a:r>
                        <a:rPr sz="1950" b="1">
                          <a:solidFill>
                            <a:srgbClr val="152A3A"/>
                          </a:solidFill>
                          <a:latin typeface="Helvetica Neue"/>
                          <a:ea typeface="Helvetica Neue"/>
                          <a:cs typeface="Helvetica Neue"/>
                        </a:rPr>
                        <a:t>0.4273</a:t>
                      </a:r>
                    </a:p>
                  </a:txBody>
                  <a:tcPr marL="91440" marR="91440" marT="45720" marB="45720">
                    <a:solidFill>
                      <a:srgbClr val="E8EEF4"/>
                    </a:solidFill>
                  </a:tcPr>
                </a:tc>
                <a:tc>
                  <a:txBody>
                    <a:bodyPr/>
                    <a:lstStyle/>
                    <a:p>
                      <a:r>
                        <a:rPr sz="1950" b="1">
                          <a:solidFill>
                            <a:srgbClr val="152A3A"/>
                          </a:solidFill>
                          <a:latin typeface="Helvetica Neue"/>
                          <a:ea typeface="Helvetica Neue"/>
                          <a:cs typeface="Helvetica Neue"/>
                        </a:rPr>
                        <a:t>0.5430</a:t>
                      </a:r>
                    </a:p>
                  </a:txBody>
                  <a:tcPr marL="91440" marR="91440" marT="45720" marB="45720">
                    <a:solidFill>
                      <a:srgbClr val="E8EEF4"/>
                    </a:solidFill>
                  </a:tcPr>
                </a:tc>
              </a:tr>
            </a:tbl>
          </a:graphicData>
        </a:graphic>
      </p:graphicFrame>
      <p:sp>
        <p:nvSpPr>
          <p:cNvPr id="5" name="">
            <a:extLst xmlns:a="http://schemas.openxmlformats.org/drawingml/2006/main">
              <a:ext uri="{FF2B5EF4-FFF2-40B4-BE49-F238E27FC236}">
                <a16:creationId xmlns:a16="http://schemas.microsoft.com/office/drawing/2014/main" id="{CF3F846A-8B0E-4855-B117-B6EED4C61351}"/>
              </a:ext>
            </a:extLst>
          </p:cNvPr>
          <p:cNvSpPr>
            <a:spLocks xmlns:a="http://schemas.openxmlformats.org/drawingml/2006/main" noGrp="1"/>
          </p:cNvSpPr>
          <p:nvPr/>
        </p:nvSpPr>
        <p:spPr>
          <a:xfrm xmlns:a="http://schemas.openxmlformats.org/drawingml/2006/main">
            <a:off x="609600" y="51530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D72"/>
                </a:solidFill>
                <a:latin typeface="Helvetica Neue"/>
                <a:ea typeface="Helvetica Neue"/>
                <a:cs typeface="Helvetica Neue"/>
              </a:defRPr>
            </a:pPr>
            <a:r>
              <a:rPr sz="2100" b="1">
                <a:solidFill>
                  <a:srgbClr val="007D72"/>
                </a:solidFill>
                <a:latin typeface="Helvetica Neue"/>
                <a:ea typeface="Helvetica Neue"/>
                <a:cs typeface="Helvetica Neue"/>
              </a:rPr>
              <a:t>Rewrite + Keywords has the highest automatic scores. Human remains the strongest reference.</a:t>
            </a:r>
          </a:p>
        </p:txBody>
      </p:sp>
      <p:sp>
        <p:nvSpPr>
          <p:cNvPr id="6" name="">
            <a:extLst xmlns:a="http://schemas.openxmlformats.org/drawingml/2006/main">
              <a:ext uri="{FF2B5EF4-FFF2-40B4-BE49-F238E27FC236}">
                <a16:creationId xmlns:a16="http://schemas.microsoft.com/office/drawing/2014/main" id="{7B68A024-BE91-4EB1-946A-6DD347095E2D}"/>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575"/>
                </a:solidFill>
                <a:latin typeface="Helvetica Neue"/>
                <a:ea typeface="Helvetica Neue"/>
                <a:cs typeface="Helvetica Neue"/>
              </a:defRPr>
            </a:pPr>
            <a:r>
              <a:rPr sz="1425" b="0">
                <a:solidFill>
                  <a:srgbClr val="536575"/>
                </a:solidFill>
                <a:latin typeface="Helvetica Neue"/>
                <a:ea typeface="Helvetica Neue"/>
                <a:cs typeface="Helvetica Neue"/>
              </a:rPr>
              <a:t>Higher is better. Saved project results, rounded to 4 decimals. No statistical significance test.</a:t>
            </a:r>
          </a:p>
        </p:txBody>
      </p:sp>
    </p:spTree>
    <p:extLst>
      <p:ext uri="{BB962C8B-B14F-4D97-AF65-F5344CB8AC3E}">
        <p14:creationId xmlns:p14="http://schemas.microsoft.com/office/powerpoint/2010/main" val="449732196"/>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6628C4-305F-4103-8075-C3CFCEA6EA81}"/>
              </a:ext>
            </a:extLst>
          </p:cNvPr>
          <p:cNvSpPr>
            <a:spLocks xmlns:a="http://schemas.openxmlformats.org/drawingml/2006/main" noGrp="1"/>
          </p:cNvSpPr>
          <p:nvPr/>
        </p:nvSpPr>
        <p:spPr>
          <a:xfrm xmlns:a="http://schemas.openxmlformats.org/drawingml/2006/main">
            <a:off x="609600" y="400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2A3A"/>
                </a:solidFill>
                <a:latin typeface="Helvetica Neue"/>
                <a:ea typeface="Helvetica Neue"/>
                <a:cs typeface="Helvetica Neue"/>
              </a:defRPr>
            </a:pPr>
            <a:r>
              <a:rPr sz="3150" b="1">
                <a:solidFill>
                  <a:srgbClr val="152A3A"/>
                </a:solidFill>
                <a:latin typeface="Helvetica Neue"/>
                <a:ea typeface="Helvetica Neue"/>
                <a:cs typeface="Helvetica Neue"/>
              </a:rPr>
              <a:t>Limitations</a:t>
            </a:r>
          </a:p>
        </p:txBody>
      </p:sp>
      <p:sp>
        <p:nvSpPr>
          <p:cNvPr id="2" name="">
            <a:extLst xmlns:a="http://schemas.openxmlformats.org/drawingml/2006/main">
              <a:ext uri="{FF2B5EF4-FFF2-40B4-BE49-F238E27FC236}">
                <a16:creationId xmlns:a16="http://schemas.microsoft.com/office/drawing/2014/main" id="{3D4671C0-084C-4CC2-AD0C-F75885AF9317}"/>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575"/>
                </a:solidFill>
                <a:latin typeface="Helvetica Neue"/>
                <a:ea typeface="Helvetica Neue"/>
                <a:cs typeface="Helvetica Neue"/>
              </a:defRPr>
            </a:pPr>
            <a:r>
              <a:rPr sz="1275" b="0">
                <a:solidFill>
                  <a:srgbClr val="536575"/>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5910EDDB-0FC5-435E-B3C0-994516A31B38}"/>
              </a:ext>
            </a:extLst>
          </p:cNvPr>
          <p:cNvSpPr>
            <a:spLocks xmlns:a="http://schemas.openxmlformats.org/drawingml/2006/main" noGrp="1"/>
          </p:cNvSpPr>
          <p:nvPr/>
        </p:nvSpPr>
        <p:spPr>
          <a:xfrm xmlns:a="http://schemas.openxmlformats.org/drawingml/2006/main">
            <a:off x="609600" y="1447800"/>
            <a:ext cx="33813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Incomplete context</a:t>
            </a:r>
          </a:p>
        </p:txBody>
      </p:sp>
      <p:sp>
        <p:nvSpPr>
          <p:cNvPr id="4" name="">
            <a:extLst xmlns:a="http://schemas.openxmlformats.org/drawingml/2006/main">
              <a:ext uri="{FF2B5EF4-FFF2-40B4-BE49-F238E27FC236}">
                <a16:creationId xmlns:a16="http://schemas.microsoft.com/office/drawing/2014/main" id="{C54D1C34-AAA5-4082-99A2-D56AEF4502A6}"/>
              </a:ext>
            </a:extLst>
          </p:cNvPr>
          <p:cNvSpPr>
            <a:spLocks xmlns:a="http://schemas.openxmlformats.org/drawingml/2006/main" noGrp="1"/>
          </p:cNvSpPr>
          <p:nvPr/>
        </p:nvSpPr>
        <p:spPr>
          <a:xfrm xmlns:a="http://schemas.openxmlformats.org/drawingml/2006/main">
            <a:off x="4381500" y="1447800"/>
            <a:ext cx="716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User-only history omits previous answers that some CAsT turns depend on.</a:t>
            </a:r>
          </a:p>
        </p:txBody>
      </p:sp>
      <p:sp>
        <p:nvSpPr>
          <p:cNvPr id="5" name="">
            <a:extLst xmlns:a="http://schemas.openxmlformats.org/drawingml/2006/main">
              <a:ext uri="{FF2B5EF4-FFF2-40B4-BE49-F238E27FC236}">
                <a16:creationId xmlns:a16="http://schemas.microsoft.com/office/drawing/2014/main" id="{0B84E899-80C7-4CDB-AA8D-AD22B737E4CE}"/>
              </a:ext>
            </a:extLst>
          </p:cNvPr>
          <p:cNvSpPr>
            <a:spLocks xmlns:a="http://schemas.openxmlformats.org/drawingml/2006/main" noGrp="1"/>
          </p:cNvSpPr>
          <p:nvPr/>
        </p:nvSpPr>
        <p:spPr>
          <a:xfrm xmlns:a="http://schemas.openxmlformats.org/drawingml/2006/main">
            <a:off x="609600" y="2543175"/>
            <a:ext cx="33813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B34C36"/>
                </a:solidFill>
                <a:latin typeface="Helvetica Neue"/>
                <a:ea typeface="Helvetica Neue"/>
                <a:cs typeface="Helvetica Neue"/>
              </a:defRPr>
            </a:pPr>
            <a:r>
              <a:rPr sz="2175" b="1">
                <a:solidFill>
                  <a:srgbClr val="B34C36"/>
                </a:solidFill>
                <a:latin typeface="Helvetica Neue"/>
                <a:ea typeface="Helvetica Neue"/>
                <a:cs typeface="Helvetica Neue"/>
              </a:rPr>
              <a:t>Rewrite errors</a:t>
            </a:r>
          </a:p>
        </p:txBody>
      </p:sp>
      <p:sp>
        <p:nvSpPr>
          <p:cNvPr id="6" name="">
            <a:extLst xmlns:a="http://schemas.openxmlformats.org/drawingml/2006/main">
              <a:ext uri="{FF2B5EF4-FFF2-40B4-BE49-F238E27FC236}">
                <a16:creationId xmlns:a16="http://schemas.microsoft.com/office/drawing/2014/main" id="{56C27CA6-E88E-4CCF-965F-9610EC32A1AA}"/>
              </a:ext>
            </a:extLst>
          </p:cNvPr>
          <p:cNvSpPr>
            <a:spLocks xmlns:a="http://schemas.openxmlformats.org/drawingml/2006/main" noGrp="1"/>
          </p:cNvSpPr>
          <p:nvPr/>
        </p:nvSpPr>
        <p:spPr>
          <a:xfrm xmlns:a="http://schemas.openxmlformats.org/drawingml/2006/main">
            <a:off x="4381500" y="2543175"/>
            <a:ext cx="716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The LLM can alter intent or add unsupported terms. The keyword branch worsens 28 of 208 turns versus Raw on nDCG@10.</a:t>
            </a:r>
          </a:p>
        </p:txBody>
      </p:sp>
      <p:sp>
        <p:nvSpPr>
          <p:cNvPr id="7" name="">
            <a:extLst xmlns:a="http://schemas.openxmlformats.org/drawingml/2006/main">
              <a:ext uri="{FF2B5EF4-FFF2-40B4-BE49-F238E27FC236}">
                <a16:creationId xmlns:a16="http://schemas.microsoft.com/office/drawing/2014/main" id="{F180B844-1972-43D1-84BE-C9023C5BD7B2}"/>
              </a:ext>
            </a:extLst>
          </p:cNvPr>
          <p:cNvSpPr>
            <a:spLocks xmlns:a="http://schemas.openxmlformats.org/drawingml/2006/main" noGrp="1"/>
          </p:cNvSpPr>
          <p:nvPr/>
        </p:nvSpPr>
        <p:spPr>
          <a:xfrm xmlns:a="http://schemas.openxmlformats.org/drawingml/2006/main">
            <a:off x="609600" y="3638550"/>
            <a:ext cx="33813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Limited experimental scope</a:t>
            </a:r>
          </a:p>
        </p:txBody>
      </p:sp>
      <p:sp>
        <p:nvSpPr>
          <p:cNvPr id="8" name="">
            <a:extLst xmlns:a="http://schemas.openxmlformats.org/drawingml/2006/main">
              <a:ext uri="{FF2B5EF4-FFF2-40B4-BE49-F238E27FC236}">
                <a16:creationId xmlns:a16="http://schemas.microsoft.com/office/drawing/2014/main" id="{00820272-90E6-4ED7-BFFC-7D69F0E50BE0}"/>
              </a:ext>
            </a:extLst>
          </p:cNvPr>
          <p:cNvSpPr>
            <a:spLocks xmlns:a="http://schemas.openxmlformats.org/drawingml/2006/main" noGrp="1"/>
          </p:cNvSpPr>
          <p:nvPr/>
        </p:nvSpPr>
        <p:spPr>
          <a:xfrm xmlns:a="http://schemas.openxmlformats.org/drawingml/2006/main">
            <a:off x="4381500" y="3638550"/>
            <a:ext cx="716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One dataset, one recorded model, and BM25. No significance tests or latency and cost measurements.</a:t>
            </a:r>
          </a:p>
        </p:txBody>
      </p:sp>
      <p:sp>
        <p:nvSpPr>
          <p:cNvPr id="9" name="">
            <a:extLst xmlns:a="http://schemas.openxmlformats.org/drawingml/2006/main">
              <a:ext uri="{FF2B5EF4-FFF2-40B4-BE49-F238E27FC236}">
                <a16:creationId xmlns:a16="http://schemas.microsoft.com/office/drawing/2014/main" id="{144BBCD4-5A6E-461A-ABDE-3661DE177B72}"/>
              </a:ext>
            </a:extLst>
          </p:cNvPr>
          <p:cNvSpPr>
            <a:spLocks xmlns:a="http://schemas.openxmlformats.org/drawingml/2006/main" noGrp="1"/>
          </p:cNvSpPr>
          <p:nvPr/>
        </p:nvSpPr>
        <p:spPr>
          <a:xfrm xmlns:a="http://schemas.openxmlformats.org/drawingml/2006/main">
            <a:off x="609600" y="4733925"/>
            <a:ext cx="33813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BA"/>
                </a:solidFill>
                <a:latin typeface="Helvetica Neue"/>
                <a:ea typeface="Helvetica Neue"/>
                <a:cs typeface="Helvetica Neue"/>
              </a:defRPr>
            </a:pPr>
            <a:r>
              <a:rPr sz="2175" b="1">
                <a:solidFill>
                  <a:srgbClr val="176BBA"/>
                </a:solidFill>
                <a:latin typeface="Helvetica Neue"/>
                <a:ea typeface="Helvetica Neue"/>
                <a:cs typeface="Helvetica Neue"/>
              </a:rPr>
              <a:t>Keywords are not isolated</a:t>
            </a:r>
          </a:p>
        </p:txBody>
      </p:sp>
      <p:sp>
        <p:nvSpPr>
          <p:cNvPr id="10" name="">
            <a:extLst xmlns:a="http://schemas.openxmlformats.org/drawingml/2006/main">
              <a:ext uri="{FF2B5EF4-FFF2-40B4-BE49-F238E27FC236}">
                <a16:creationId xmlns:a16="http://schemas.microsoft.com/office/drawing/2014/main" id="{17AD13C9-73A3-4599-8393-170AD37C5F13}"/>
              </a:ext>
            </a:extLst>
          </p:cNvPr>
          <p:cNvSpPr>
            <a:spLocks xmlns:a="http://schemas.openxmlformats.org/drawingml/2006/main" noGrp="1"/>
          </p:cNvSpPr>
          <p:nvPr/>
        </p:nvSpPr>
        <p:spPr>
          <a:xfrm xmlns:a="http://schemas.openxmlformats.org/drawingml/2006/main">
            <a:off x="4381500" y="4733925"/>
            <a:ext cx="716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A3A"/>
                </a:solidFill>
                <a:latin typeface="Helvetica Neue"/>
                <a:ea typeface="Helvetica Neue"/>
                <a:cs typeface="Helvetica Neue"/>
              </a:defRPr>
            </a:pPr>
            <a:r>
              <a:rPr sz="2025" b="0">
                <a:solidFill>
                  <a:srgbClr val="152A3A"/>
                </a:solidFill>
                <a:latin typeface="Helvetica Neue"/>
                <a:ea typeface="Helvetica Neue"/>
                <a:cs typeface="Helvetica Neue"/>
              </a:rPr>
              <a:t>The two prompts generate different base rewrites. Their score difference cannot be attributed only to added keywords.</a:t>
            </a:r>
          </a:p>
        </p:txBody>
      </p:sp>
    </p:spTree>
    <p:extLst>
      <p:ext uri="{BB962C8B-B14F-4D97-AF65-F5344CB8AC3E}">
        <p14:creationId xmlns:p14="http://schemas.microsoft.com/office/powerpoint/2010/main" val="862665250"/>
      </p:ext>
    </p:extLst>
  </p:cSld>
</p:sld>
</file>

<file path=ppt/slides/slide9.xml><?xml version="1.0" encoding="utf-8"?>
<p:sld xmlns:p="http://schemas.openxmlformats.org/presentationml/2006/main">
  <p:cSld>
    <p:bg>
      <p:bgPr>
        <a:solidFill xmlns:a="http://schemas.openxmlformats.org/drawingml/2006/main">
          <a:srgbClr val="152A3A"/>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7408B74-069A-42C5-BDDD-18F65CE82CC0}"/>
              </a:ext>
            </a:extLst>
          </p:cNvPr>
          <p:cNvSpPr>
            <a:spLocks xmlns:a="http://schemas.openxmlformats.org/drawingml/2006/main" noGrp="1"/>
          </p:cNvSpPr>
          <p:nvPr/>
        </p:nvSpPr>
        <p:spPr>
          <a:xfrm xmlns:a="http://schemas.openxmlformats.org/drawingml/2006/main">
            <a:off x="762000" y="21336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Thank you</a:t>
            </a:r>
          </a:p>
        </p:txBody>
      </p:sp>
      <p:sp>
        <p:nvSpPr>
          <p:cNvPr id="2" name="">
            <a:extLst xmlns:a="http://schemas.openxmlformats.org/drawingml/2006/main">
              <a:ext uri="{FF2B5EF4-FFF2-40B4-BE49-F238E27FC236}">
                <a16:creationId xmlns:a16="http://schemas.microsoft.com/office/drawing/2014/main" id="{E4043EC3-71F7-438D-A30D-BA41C5F060FF}"/>
              </a:ext>
            </a:extLst>
          </p:cNvPr>
          <p:cNvSpPr>
            <a:spLocks xmlns:a="http://schemas.openxmlformats.org/drawingml/2006/main" noGrp="1"/>
          </p:cNvSpPr>
          <p:nvPr/>
        </p:nvSpPr>
        <p:spPr>
          <a:xfrm xmlns:a="http://schemas.openxmlformats.org/drawingml/2006/main">
            <a:off x="809625" y="3648075"/>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C8DEEC"/>
                </a:solidFill>
                <a:latin typeface="Helvetica Neue"/>
                <a:ea typeface="Helvetica Neue"/>
                <a:cs typeface="Helvetica Neue"/>
              </a:defRPr>
            </a:pPr>
            <a:r>
              <a:rPr sz="2550" b="0">
                <a:solidFill>
                  <a:srgbClr val="C8DEEC"/>
                </a:solidFill>
                <a:latin typeface="Helvetica Neue"/>
                <a:ea typeface="Helvetica Neue"/>
                <a:cs typeface="Helvetica Neue"/>
              </a:rPr>
              <a:t>Questions &amp; discussion</a:t>
            </a:r>
          </a:p>
        </p:txBody>
      </p:sp>
    </p:spTree>
    <p:extLst>
      <p:ext uri="{BB962C8B-B14F-4D97-AF65-F5344CB8AC3E}">
        <p14:creationId xmlns:p14="http://schemas.microsoft.com/office/powerpoint/2010/main" val="3092563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2026-09-22T17:22:32.0740000Z</dcterms:created>
  <dcterms:modified xsi:type="dcterms:W3CDTF">2026-09-22T17:22:32.0740000Z</dcterms:modified>
</coreProperties>
</file>