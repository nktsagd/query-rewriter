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e201ec571444b6" /><Relationship Type="http://schemas.openxmlformats.org/officeDocument/2006/relationships/extended-properties" Target="/docProps/app.xml" Id="R6d11c1f1b0574c4c" /><Relationship Type="http://schemas.openxmlformats.org/officeDocument/2006/relationships/officeDocument" Target="/ppt/presentation.xml" Id="R5ea35d1637aa42a9" /></Relationships>
</file>

<file path=ppt/presentation.xml><?xml version="1.0" encoding="utf-8"?>
<p:presentation xmlns:p="http://schemas.openxmlformats.org/presentationml/2006/main">
  <p:sldMasterIdLst>
    <p:sldMasterId xmlns:r="http://schemas.openxmlformats.org/officeDocument/2006/relationships" id="2147483648" r:id="Re95989445a994cb2"/>
  </p:sldMasterIdLst>
  <p:notesMasterIdLst>
    <p:notesMasterId xmlns:r="http://schemas.openxmlformats.org/officeDocument/2006/relationships" r:id="Rca9690dd71fd4f64"/>
  </p:notesMasterIdLst>
  <p:sldIdLst>
    <p:sldId xmlns:r="http://schemas.openxmlformats.org/officeDocument/2006/relationships" id="256" r:id="R0bcd35fee05b4b6b"/>
    <p:sldId xmlns:r="http://schemas.openxmlformats.org/officeDocument/2006/relationships" id="257" r:id="R2e0f4b4df19d44f6"/>
    <p:sldId xmlns:r="http://schemas.openxmlformats.org/officeDocument/2006/relationships" id="258" r:id="R67f16dc7401f4841"/>
    <p:sldId xmlns:r="http://schemas.openxmlformats.org/officeDocument/2006/relationships" id="259" r:id="Ra4f99abb260d4fe8"/>
    <p:sldId xmlns:r="http://schemas.openxmlformats.org/officeDocument/2006/relationships" id="260" r:id="Ree90c8bc4b864db6"/>
    <p:sldId xmlns:r="http://schemas.openxmlformats.org/officeDocument/2006/relationships" id="261" r:id="R280bf34386ea4a53"/>
    <p:sldId xmlns:r="http://schemas.openxmlformats.org/officeDocument/2006/relationships" id="262" r:id="R4313c94718394c58"/>
    <p:sldId xmlns:r="http://schemas.openxmlformats.org/officeDocument/2006/relationships" id="263" r:id="R6d949c15b89c4c7f"/>
    <p:sldId xmlns:r="http://schemas.openxmlformats.org/officeDocument/2006/relationships" id="264" r:id="R044f7888ebfd4e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6eeae2ed3948f4" /><Relationship Type="http://schemas.openxmlformats.org/officeDocument/2006/relationships/slideMaster" Target="/ppt/slideMasters/slideMaster1.xml" Id="Re95989445a994cb2" /><Relationship Type="http://schemas.openxmlformats.org/officeDocument/2006/relationships/notesMaster" Target="/ppt/notesMasters/notesMaster1.xml" Id="Rca9690dd71fd4f64" /><Relationship Type="http://schemas.openxmlformats.org/officeDocument/2006/relationships/presProps" Target="/ppt/presProps.xml" Id="Rf61f96bf27784580" /><Relationship Type="http://schemas.openxmlformats.org/officeDocument/2006/relationships/tableStyles" Target="/ppt/tableStyles.xml" Id="R1583d7f2d8bb41cc" /><Relationship Type="http://schemas.openxmlformats.org/officeDocument/2006/relationships/slide" Target="/ppt/slides/slide1.xml" Id="R0bcd35fee05b4b6b" /><Relationship Type="http://schemas.openxmlformats.org/officeDocument/2006/relationships/slide" Target="/ppt/slides/slide2.xml" Id="R2e0f4b4df19d44f6" /><Relationship Type="http://schemas.openxmlformats.org/officeDocument/2006/relationships/slide" Target="/ppt/slides/slide3.xml" Id="R67f16dc7401f4841" /><Relationship Type="http://schemas.openxmlformats.org/officeDocument/2006/relationships/slide" Target="/ppt/slides/slide4.xml" Id="Ra4f99abb260d4fe8" /><Relationship Type="http://schemas.openxmlformats.org/officeDocument/2006/relationships/slide" Target="/ppt/slides/slide5.xml" Id="Ree90c8bc4b864db6" /><Relationship Type="http://schemas.openxmlformats.org/officeDocument/2006/relationships/slide" Target="/ppt/slides/slide6.xml" Id="R280bf34386ea4a53" /><Relationship Type="http://schemas.openxmlformats.org/officeDocument/2006/relationships/slide" Target="/ppt/slides/slide7.xml" Id="R4313c94718394c58" /><Relationship Type="http://schemas.openxmlformats.org/officeDocument/2006/relationships/slide" Target="/ppt/slides/slide8.xml" Id="R6d949c15b89c4c7f" /><Relationship Type="http://schemas.openxmlformats.org/officeDocument/2006/relationships/slide" Target="/ppt/slides/slide9.xml" Id="R044f7888ebfd4e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f185875cde4d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4e99bca0db435e" /><Relationship Type="http://schemas.openxmlformats.org/officeDocument/2006/relationships/notesMaster" Target="/ppt/notesMasters/notesMaster1.xml" Id="R25a472aaddf441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5c8b89ea74411b" /><Relationship Type="http://schemas.openxmlformats.org/officeDocument/2006/relationships/notesMaster" Target="/ppt/notesMasters/notesMaster1.xml" Id="Rbb9e09d971f049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2d7282933d45fb" /><Relationship Type="http://schemas.openxmlformats.org/officeDocument/2006/relationships/notesMaster" Target="/ppt/notesMasters/notesMaster1.xml" Id="R54e06358ad684a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cca0b91e58409f" /><Relationship Type="http://schemas.openxmlformats.org/officeDocument/2006/relationships/notesMaster" Target="/ppt/notesMasters/notesMaster1.xml" Id="R34b86667f59748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f13fb8620a4b56" /><Relationship Type="http://schemas.openxmlformats.org/officeDocument/2006/relationships/notesMaster" Target="/ppt/notesMasters/notesMaster1.xml" Id="R66182c46d75848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eaeedc85d84c3f" /><Relationship Type="http://schemas.openxmlformats.org/officeDocument/2006/relationships/notesMaster" Target="/ppt/notesMasters/notesMaster1.xml" Id="R4bba54d368a548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60cfc1c884403d" /><Relationship Type="http://schemas.openxmlformats.org/officeDocument/2006/relationships/notesMaster" Target="/ppt/notesMasters/notesMaster1.xml" Id="R3176d6d5715140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717f0a739c4d73" /><Relationship Type="http://schemas.openxmlformats.org/officeDocument/2006/relationships/notesMaster" Target="/ppt/notesMasters/notesMaster1.xml" Id="Race46bc18c3f45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27db2f1acc41f6" /><Relationship Type="http://schemas.openxmlformats.org/officeDocument/2006/relationships/notesMaster" Target="/ppt/notesMasters/notesMaster1.xml" Id="Raa15ad88c28047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This project evaluates passage retrieval, not generated answer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The quoted user turns are from CAsT 2020 topic 81, turns 1–3, as preserved in llm_minus_raw_per_query.csv. The retrieval-to-answer workflow is a conceptual usage scenario. The project benchmark stops at ranked passages.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Exact raw query: CAsT 2020 turn 81_3. Result topics on this slide illustrate a possible failure and are not actual retrieved passages.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RM3 configuration: fb_docs=10, fb_terms=10, original_query_weight=0.5. It operates on Raw queries without conversation history. The term examples and result topics are illustrative, not logged RM3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Both LLM branches use model gemma4:31b via Ollama Cloud, temperature=0, num_predict=128, think=False. History contains preceding raw user utterances, including unjudged turns, but no assistant answers. Exact stored outputs for turn 81_3 appear below. Rewriter 2 constructs its own base query in a separate prompt call. It does not consume the saved output of Rewriter 1. The prompt requests at most three equivalent keywords or phrases, but prompt compliance is not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External source: Dalton, Xiong, and Callan, CAsT 2020: The Conversational Assistance Track Overview, https://trec.nist.gov/pubs/trec29/papers/OVERVIEW.C.pdf . Official task: rank passages for each conversational turn. Dataset has 25 topics and 216 turns. Project README and notebook document 208 judged turns and 40,451 judgments. Corpus comprises MS MARCO and Wikipedia TREC CAR passages. The dataset also provides canonical responses, which this project does not feed to the rewriter. Manual rewrites are a reference, not a guaranteed theoretical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Method mapping: Raw=raw, PRF (RM3)=raw_rm3, Rewrite=rewriter 1, Rewrite + Keywords=rewriter 2, Human=human. Exact values are read from aggregate_metrics.csv and rounded to four decimals for display. Each run CSV has 208 distinct query IDs and 20,800 result rows. No new benchmark was run for this deck. nDCG@10 measures ranking quality with graded relevance; Recall@100 measures the fraction of relevant passages retrieved; RR@10 measures the reciprocal rank of the first relevant result in the top ten. Higher is better. Relative nDCG improvement of Rewrite + Keywords over Rewrite is 2.287%; difference is 0.0052856291. Statistical significance has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Per-query evidence: llm_minus_raw_per_query.csv contains 140 improved, 40 tied, and 28 degraded queries for Rewriter 2 versus Raw on nDCG@10. The rewriters use different full prompts and independently generated bases, so the comparison is not a controlled keywords-only ablation. Cloud provider, latency, cost, and model-version reproducibility require further measurement. CAsT 2020 can contain references to previous response passages; user-only history omits that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5e93f025014a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132b40c2f94ad0" /><Relationship Type="http://schemas.openxmlformats.org/officeDocument/2006/relationships/slideLayout" Target="/ppt/slideLayouts/slideLayout1.xml" Id="Re34813058fed41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4813058fed41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67fbafe39e4f56" /><Relationship Type="http://schemas.openxmlformats.org/officeDocument/2006/relationships/notesSlide" Target="/ppt/notesSlides/notesSlide1.xml" Id="R526c986e64514f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daa11f11224900" /><Relationship Type="http://schemas.openxmlformats.org/officeDocument/2006/relationships/notesSlide" Target="/ppt/notesSlides/notesSlide2.xml" Id="Rd4e19c0708744d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abfd61922048c7" /><Relationship Type="http://schemas.openxmlformats.org/officeDocument/2006/relationships/notesSlide" Target="/ppt/notesSlides/notesSlide3.xml" Id="R32cf7bf7f3204a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b2a19e2266474e" /><Relationship Type="http://schemas.openxmlformats.org/officeDocument/2006/relationships/notesSlide" Target="/ppt/notesSlides/notesSlide4.xml" Id="Reda761f8764b42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b08e142d794e85" /><Relationship Type="http://schemas.openxmlformats.org/officeDocument/2006/relationships/notesSlide" Target="/ppt/notesSlides/notesSlide5.xml" Id="R537572c1909845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c9f36865994baf" /><Relationship Type="http://schemas.openxmlformats.org/officeDocument/2006/relationships/notesSlide" Target="/ppt/notesSlides/notesSlide6.xml" Id="R20393907b0c447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a1b1a970e8417e" /><Relationship Type="http://schemas.openxmlformats.org/officeDocument/2006/relationships/notesSlide" Target="/ppt/notesSlides/notesSlide7.xml" Id="R267ca8f181df4d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93f1d232f443f7" /><Relationship Type="http://schemas.openxmlformats.org/officeDocument/2006/relationships/notesSlide" Target="/ppt/notesSlides/notesSlide8.xml" Id="Rb95eb15f2c154b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f6463c90e7419f" /><Relationship Type="http://schemas.openxmlformats.org/officeDocument/2006/relationships/notesSlide" Target="/ppt/notesSlides/notesSlide9.xml" Id="Rf6505d032fad4128" /></Relationships>
</file>

<file path=ppt/slides/slide1.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6C6539-E4A3-4D38-ADFF-B61FD483A919}"/>
              </a:ext>
            </a:extLst>
          </p:cNvPr>
          <p:cNvSpPr>
            <a:spLocks xmlns:a="http://schemas.openxmlformats.org/drawingml/2006/main" noGrp="1"/>
          </p:cNvSpPr>
          <p:nvPr/>
        </p:nvSpPr>
        <p:spPr>
          <a:xfrm xmlns:a="http://schemas.openxmlformats.org/drawingml/2006/main">
            <a:off x="723900" y="152400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LLM-Based</a:t>
            </a:r>
          </a:p>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Query Rewriting</a:t>
            </a:r>
          </a:p>
        </p:txBody>
      </p:sp>
      <p:sp>
        <p:nvSpPr>
          <p:cNvPr id="2" name="">
            <a:extLst xmlns:a="http://schemas.openxmlformats.org/drawingml/2006/main">
              <a:ext uri="{FF2B5EF4-FFF2-40B4-BE49-F238E27FC236}">
                <a16:creationId xmlns:a16="http://schemas.microsoft.com/office/drawing/2014/main" id="{2C2A67C3-D594-4DF6-BCA1-24DE92B0C58B}"/>
              </a:ext>
            </a:extLst>
          </p:cNvPr>
          <p:cNvSpPr>
            <a:spLocks xmlns:a="http://schemas.openxmlformats.org/drawingml/2006/main" noGrp="1"/>
          </p:cNvSpPr>
          <p:nvPr/>
        </p:nvSpPr>
        <p:spPr>
          <a:xfrm xmlns:a="http://schemas.openxmlformats.org/drawingml/2006/main">
            <a:off x="762000" y="39719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8DEEC"/>
                </a:solidFill>
                <a:latin typeface="Helvetica Neue"/>
                <a:ea typeface="Helvetica Neue"/>
                <a:cs typeface="Helvetica Neue"/>
              </a:defRPr>
            </a:pPr>
            <a:r>
              <a:rPr sz="2250" b="0">
                <a:solidFill>
                  <a:srgbClr val="C8DEEC"/>
                </a:solidFill>
                <a:latin typeface="Helvetica Neue"/>
                <a:ea typeface="Helvetica Neue"/>
                <a:cs typeface="Helvetica Neue"/>
              </a:rPr>
              <a:t>Conversational passage retrieval on TREC CAsT 2020</a:t>
            </a:r>
          </a:p>
        </p:txBody>
      </p:sp>
      <p:sp>
        <p:nvSpPr>
          <p:cNvPr id="3" name="">
            <a:extLst xmlns:a="http://schemas.openxmlformats.org/drawingml/2006/main">
              <a:ext uri="{FF2B5EF4-FFF2-40B4-BE49-F238E27FC236}">
                <a16:creationId xmlns:a16="http://schemas.microsoft.com/office/drawing/2014/main" id="{AE8F3860-7FB6-4692-A206-81B7F7679E71}"/>
              </a:ext>
            </a:extLst>
          </p:cNvPr>
          <p:cNvSpPr>
            <a:spLocks xmlns:a="http://schemas.openxmlformats.org/drawingml/2006/main" noGrp="1"/>
          </p:cNvSpPr>
          <p:nvPr/>
        </p:nvSpPr>
        <p:spPr>
          <a:xfrm xmlns:a="http://schemas.openxmlformats.org/drawingml/2006/main">
            <a:off x="762000" y="47434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8DEEC"/>
                </a:solidFill>
                <a:latin typeface="Helvetica Neue"/>
                <a:ea typeface="Helvetica Neue"/>
                <a:cs typeface="Helvetica Neue"/>
              </a:defRPr>
            </a:pPr>
            <a:r>
              <a:rPr sz="1800" b="0">
                <a:solidFill>
                  <a:srgbClr val="C8DEEC"/>
                </a:solidFill>
                <a:latin typeface="Helvetica Neue"/>
                <a:ea typeface="Helvetica Neue"/>
                <a:cs typeface="Helvetica Neue"/>
              </a:rPr>
              <a:t>Raw queries, pseudo-relevance feedback, and contextual rewriting</a:t>
            </a:r>
          </a:p>
        </p:txBody>
      </p:sp>
    </p:spTree>
    <p:extLst>
      <p:ext uri="{BB962C8B-B14F-4D97-AF65-F5344CB8AC3E}">
        <p14:creationId xmlns:p14="http://schemas.microsoft.com/office/powerpoint/2010/main" val="1621991584"/>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09855AA-0F1B-47A1-B589-C51198060654}"/>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Conversational search: context matters</a:t>
            </a:r>
          </a:p>
        </p:txBody>
      </p:sp>
      <p:sp>
        <p:nvSpPr>
          <p:cNvPr id="2" name="">
            <a:extLst xmlns:a="http://schemas.openxmlformats.org/drawingml/2006/main">
              <a:ext uri="{FF2B5EF4-FFF2-40B4-BE49-F238E27FC236}">
                <a16:creationId xmlns:a16="http://schemas.microsoft.com/office/drawing/2014/main" id="{52B65249-13EE-4E96-891C-CE7877E093C1}"/>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A2A1595-4022-4F3C-B550-69F72DB950B7}"/>
              </a:ext>
            </a:extLst>
          </p:cNvPr>
          <p:cNvSpPr>
            <a:spLocks xmlns:a="http://schemas.openxmlformats.org/drawingml/2006/main" noGrp="1"/>
          </p:cNvSpPr>
          <p:nvPr/>
        </p:nvSpPr>
        <p:spPr>
          <a:xfrm xmlns:a="http://schemas.openxmlformats.org/drawingml/2006/main">
            <a:off x="609600" y="13811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BBA"/>
                </a:solidFill>
                <a:latin typeface="Helvetica Neue"/>
                <a:ea typeface="Helvetica Neue"/>
                <a:cs typeface="Helvetica Neue"/>
              </a:defRPr>
            </a:pPr>
            <a:r>
              <a:rPr sz="1950" b="1">
                <a:solidFill>
                  <a:srgbClr val="176BBA"/>
                </a:solidFill>
                <a:latin typeface="Helvetica Neue"/>
                <a:ea typeface="Helvetica Neue"/>
                <a:cs typeface="Helvetica Neue"/>
              </a:rPr>
              <a:t>Conversation history</a:t>
            </a:r>
          </a:p>
        </p:txBody>
      </p:sp>
      <p:sp>
        <p:nvSpPr>
          <p:cNvPr id="4" name="">
            <a:extLst xmlns:a="http://schemas.openxmlformats.org/drawingml/2006/main">
              <a:ext uri="{FF2B5EF4-FFF2-40B4-BE49-F238E27FC236}">
                <a16:creationId xmlns:a16="http://schemas.microsoft.com/office/drawing/2014/main" id="{9342B918-850D-472B-AD7B-42DDF76729F4}"/>
              </a:ext>
            </a:extLst>
          </p:cNvPr>
          <p:cNvSpPr>
            <a:spLocks xmlns:a="http://schemas.openxmlformats.org/drawingml/2006/main" noGrp="1"/>
          </p:cNvSpPr>
          <p:nvPr/>
        </p:nvSpPr>
        <p:spPr>
          <a:xfrm xmlns:a="http://schemas.openxmlformats.org/drawingml/2006/main">
            <a:off x="609600" y="18764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1   “How do you know when your garage door opener is going bad?”</a:t>
            </a:r>
          </a:p>
          <a:p xmlns:a="http://schemas.openxmlformats.org/drawingml/2006/main">
            <a:r>
              <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2   “Now it stopped working. Why?”</a:t>
            </a:r>
          </a:p>
        </p:txBody>
      </p:sp>
      <p:sp>
        <p:nvSpPr>
          <p:cNvPr id="5" name="">
            <a:extLst xmlns:a="http://schemas.openxmlformats.org/drawingml/2006/main">
              <a:ext uri="{FF2B5EF4-FFF2-40B4-BE49-F238E27FC236}">
                <a16:creationId xmlns:a16="http://schemas.microsoft.com/office/drawing/2014/main" id="{04B0BC1E-9E41-4E72-8B8F-983961C0E4BD}"/>
              </a:ext>
            </a:extLst>
          </p:cNvPr>
          <p:cNvSpPr>
            <a:spLocks xmlns:a="http://schemas.openxmlformats.org/drawingml/2006/main" noGrp="1"/>
          </p:cNvSpPr>
          <p:nvPr/>
        </p:nvSpPr>
        <p:spPr>
          <a:xfrm xmlns:a="http://schemas.openxmlformats.org/drawingml/2006/main">
            <a:off x="609600" y="38766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BBA"/>
                </a:solidFill>
                <a:latin typeface="Helvetica Neue"/>
                <a:ea typeface="Helvetica Neue"/>
                <a:cs typeface="Helvetica Neue"/>
              </a:defRPr>
            </a:pPr>
            <a:r>
              <a:rPr sz="1950" b="1">
                <a:solidFill>
                  <a:srgbClr val="176BBA"/>
                </a:solidFill>
                <a:latin typeface="Helvetica Neue"/>
                <a:ea typeface="Helvetica Neue"/>
                <a:cs typeface="Helvetica Neue"/>
              </a:rPr>
              <a:t>Current question</a:t>
            </a:r>
          </a:p>
        </p:txBody>
      </p:sp>
      <p:sp>
        <p:nvSpPr>
          <p:cNvPr id="6" name="">
            <a:extLst xmlns:a="http://schemas.openxmlformats.org/drawingml/2006/main">
              <a:ext uri="{FF2B5EF4-FFF2-40B4-BE49-F238E27FC236}">
                <a16:creationId xmlns:a16="http://schemas.microsoft.com/office/drawing/2014/main" id="{5F18461D-A777-46B0-B88C-D5839F6B2D77}"/>
              </a:ext>
            </a:extLst>
          </p:cNvPr>
          <p:cNvSpPr>
            <a:spLocks xmlns:a="http://schemas.openxmlformats.org/drawingml/2006/main" noGrp="1"/>
          </p:cNvSpPr>
          <p:nvPr/>
        </p:nvSpPr>
        <p:spPr>
          <a:xfrm xmlns:a="http://schemas.openxmlformats.org/drawingml/2006/main">
            <a:off x="609600" y="4352925"/>
            <a:ext cx="5095875" cy="1123950"/>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70585F40-2BD1-4DA9-B223-AF58841628BF}"/>
              </a:ext>
            </a:extLst>
          </p:cNvPr>
          <p:cNvSpPr>
            <a:spLocks xmlns:a="http://schemas.openxmlformats.org/drawingml/2006/main" noGrp="1"/>
          </p:cNvSpPr>
          <p:nvPr/>
        </p:nvSpPr>
        <p:spPr>
          <a:xfrm xmlns:a="http://schemas.openxmlformats.org/drawingml/2006/main">
            <a:off x="781050" y="4505325"/>
            <a:ext cx="4752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User query</a:t>
            </a:r>
          </a:p>
        </p:txBody>
      </p:sp>
      <p:sp>
        <p:nvSpPr>
          <p:cNvPr id="8" name="">
            <a:extLst xmlns:a="http://schemas.openxmlformats.org/drawingml/2006/main">
              <a:ext uri="{FF2B5EF4-FFF2-40B4-BE49-F238E27FC236}">
                <a16:creationId xmlns:a16="http://schemas.microsoft.com/office/drawing/2014/main" id="{6F2D5DF6-10A1-42DF-8F75-D41AFBC1A420}"/>
              </a:ext>
            </a:extLst>
          </p:cNvPr>
          <p:cNvSpPr>
            <a:spLocks xmlns:a="http://schemas.openxmlformats.org/drawingml/2006/main" noGrp="1"/>
          </p:cNvSpPr>
          <p:nvPr/>
        </p:nvSpPr>
        <p:spPr>
          <a:xfrm xmlns:a="http://schemas.openxmlformats.org/drawingml/2006/main">
            <a:off x="781050" y="4905375"/>
            <a:ext cx="47529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“How much does it cost for someone to fix it?”</a:t>
            </a:r>
          </a:p>
        </p:txBody>
      </p:sp>
      <p:sp>
        <p:nvSpPr>
          <p:cNvPr id="9" name="">
            <a:extLst xmlns:a="http://schemas.openxmlformats.org/drawingml/2006/main">
              <a:ext uri="{FF2B5EF4-FFF2-40B4-BE49-F238E27FC236}">
                <a16:creationId xmlns:a16="http://schemas.microsoft.com/office/drawing/2014/main" id="{8429DE59-DA11-4960-9CA5-241FF6555B9F}"/>
              </a:ext>
            </a:extLst>
          </p:cNvPr>
          <p:cNvSpPr>
            <a:spLocks xmlns:a="http://schemas.openxmlformats.org/drawingml/2006/main" noGrp="1"/>
          </p:cNvSpPr>
          <p:nvPr/>
        </p:nvSpPr>
        <p:spPr>
          <a:xfrm xmlns:a="http://schemas.openxmlformats.org/drawingml/2006/main">
            <a:off x="6715125" y="2085975"/>
            <a:ext cx="1905000" cy="1466850"/>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10" name="">
            <a:extLst xmlns:a="http://schemas.openxmlformats.org/drawingml/2006/main">
              <a:ext uri="{FF2B5EF4-FFF2-40B4-BE49-F238E27FC236}">
                <a16:creationId xmlns:a16="http://schemas.microsoft.com/office/drawing/2014/main" id="{D2989F99-146B-40FA-A986-BACFC119F51F}"/>
              </a:ext>
            </a:extLst>
          </p:cNvPr>
          <p:cNvSpPr>
            <a:spLocks xmlns:a="http://schemas.openxmlformats.org/drawingml/2006/main" noGrp="1"/>
          </p:cNvSpPr>
          <p:nvPr/>
        </p:nvSpPr>
        <p:spPr>
          <a:xfrm xmlns:a="http://schemas.openxmlformats.org/drawingml/2006/main">
            <a:off x="6886575" y="2238375"/>
            <a:ext cx="1562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Search</a:t>
            </a:r>
          </a:p>
        </p:txBody>
      </p:sp>
      <p:sp>
        <p:nvSpPr>
          <p:cNvPr id="11" name="">
            <a:extLst xmlns:a="http://schemas.openxmlformats.org/drawingml/2006/main">
              <a:ext uri="{FF2B5EF4-FFF2-40B4-BE49-F238E27FC236}">
                <a16:creationId xmlns:a16="http://schemas.microsoft.com/office/drawing/2014/main" id="{17550CC8-9EAD-4823-89F8-07255E645D45}"/>
              </a:ext>
            </a:extLst>
          </p:cNvPr>
          <p:cNvSpPr>
            <a:spLocks xmlns:a="http://schemas.openxmlformats.org/drawingml/2006/main" noGrp="1"/>
          </p:cNvSpPr>
          <p:nvPr/>
        </p:nvSpPr>
        <p:spPr>
          <a:xfrm xmlns:a="http://schemas.openxmlformats.org/drawingml/2006/main">
            <a:off x="6886575" y="2638425"/>
            <a:ext cx="1562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Retrieve relevant passages</a:t>
            </a:r>
          </a:p>
        </p:txBody>
      </p:sp>
      <p:sp>
        <p:nvSpPr>
          <p:cNvPr id="12" name="">
            <a:extLst xmlns:a="http://schemas.openxmlformats.org/drawingml/2006/main">
              <a:ext uri="{FF2B5EF4-FFF2-40B4-BE49-F238E27FC236}">
                <a16:creationId xmlns:a16="http://schemas.microsoft.com/office/drawing/2014/main" id="{63467FA2-DC51-4A99-A066-2D5E8329F4ED}"/>
              </a:ext>
            </a:extLst>
          </p:cNvPr>
          <p:cNvSpPr>
            <a:spLocks xmlns:a="http://schemas.openxmlformats.org/drawingml/2006/main" noGrp="1"/>
          </p:cNvSpPr>
          <p:nvPr/>
        </p:nvSpPr>
        <p:spPr>
          <a:xfrm xmlns:a="http://schemas.openxmlformats.org/drawingml/2006/main">
            <a:off x="9429750" y="2085975"/>
            <a:ext cx="2143125" cy="1466850"/>
          </a:xfrm>
          <a:prstGeom xmlns:a="http://schemas.openxmlformats.org/drawingml/2006/main" prst="rect">
            <a:avLst/>
          </a:prstGeom>
          <a:solidFill xmlns:a="http://schemas.openxmlformats.org/drawingml/2006/main">
            <a:srgbClr val="FFFFFF"/>
          </a:solidFill>
          <a:ln xmlns:a="http://schemas.openxmlformats.org/drawingml/2006/main" w="19050">
            <a:solidFill>
              <a:srgbClr val="007D72"/>
            </a:solidFill>
          </a:ln>
        </p:spPr>
      </p:sp>
      <p:sp>
        <p:nvSpPr>
          <p:cNvPr id="13" name="">
            <a:extLst xmlns:a="http://schemas.openxmlformats.org/drawingml/2006/main">
              <a:ext uri="{FF2B5EF4-FFF2-40B4-BE49-F238E27FC236}">
                <a16:creationId xmlns:a16="http://schemas.microsoft.com/office/drawing/2014/main" id="{689BB068-EA1C-43A5-AEF2-8AB3952B2035}"/>
              </a:ext>
            </a:extLst>
          </p:cNvPr>
          <p:cNvSpPr>
            <a:spLocks xmlns:a="http://schemas.openxmlformats.org/drawingml/2006/main" noGrp="1"/>
          </p:cNvSpPr>
          <p:nvPr/>
        </p:nvSpPr>
        <p:spPr>
          <a:xfrm xmlns:a="http://schemas.openxmlformats.org/drawingml/2006/main">
            <a:off x="9601200" y="2238375"/>
            <a:ext cx="1800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D72"/>
                </a:solidFill>
                <a:latin typeface="Helvetica Neue"/>
                <a:ea typeface="Helvetica Neue"/>
                <a:cs typeface="Helvetica Neue"/>
              </a:defRPr>
            </a:pPr>
            <a:r>
              <a:rPr sz="1875" b="1">
                <a:solidFill>
                  <a:srgbClr val="007D72"/>
                </a:solidFill>
                <a:latin typeface="Helvetica Neue"/>
                <a:ea typeface="Helvetica Neue"/>
                <a:cs typeface="Helvetica Neue"/>
              </a:rPr>
              <a:t>Evidence</a:t>
            </a:r>
          </a:p>
        </p:txBody>
      </p:sp>
      <p:sp>
        <p:nvSpPr>
          <p:cNvPr id="14" name="">
            <a:extLst xmlns:a="http://schemas.openxmlformats.org/drawingml/2006/main">
              <a:ext uri="{FF2B5EF4-FFF2-40B4-BE49-F238E27FC236}">
                <a16:creationId xmlns:a16="http://schemas.microsoft.com/office/drawing/2014/main" id="{BCDC11F8-4E36-431F-A5C8-2A101BB06B57}"/>
              </a:ext>
            </a:extLst>
          </p:cNvPr>
          <p:cNvSpPr>
            <a:spLocks xmlns:a="http://schemas.openxmlformats.org/drawingml/2006/main" noGrp="1"/>
          </p:cNvSpPr>
          <p:nvPr/>
        </p:nvSpPr>
        <p:spPr>
          <a:xfrm xmlns:a="http://schemas.openxmlformats.org/drawingml/2006/main">
            <a:off x="9601200" y="2638425"/>
            <a:ext cx="1800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Garage door opener repair costs</a:t>
            </a:r>
          </a:p>
        </p:txBody>
      </p:sp>
      <p:cxnSp>
        <p:nvCxnSpPr>
          <p:cNvPr id="33" name=""/>
          <p:cNvCxnSpPr>
            <a:stCxn xmlns:a="http://schemas.openxmlformats.org/drawingml/2006/main" id="6" idx="3"/>
            <a:endCxn xmlns:a="http://schemas.openxmlformats.org/drawingml/2006/main" id="9" idx="1"/>
          </p:cNvCxnSpPr>
          <p:nvPr/>
        </p:nvCxnSpPr>
        <p:spPr>
          <a:xfrm xmlns:a="http://schemas.openxmlformats.org/drawingml/2006/main" flipV="1">
            <a:off x="5705475" y="2819400"/>
            <a:ext cx="1009650" cy="2095500"/>
          </a:xfrm>
          <a:prstGeom xmlns:a="http://schemas.openxmlformats.org/drawingml/2006/main" prst="straightConnector1">
            <a:avLst/>
          </a:prstGeom>
          <a:ln xmlns:a="http://schemas.openxmlformats.org/drawingml/2006/main" w="19050">
            <a:solidFill>
              <a:srgbClr val="536575"/>
            </a:solidFill>
            <a:headEnd type="triangle" w="med" len="med"/>
          </a:ln>
        </p:spPr>
      </p:cxnSp>
      <p:cxnSp>
        <p:nvCxnSpPr>
          <p:cNvPr id="34" name=""/>
          <p:cNvCxnSpPr>
            <a:stCxn xmlns:a="http://schemas.openxmlformats.org/drawingml/2006/main" id="9" idx="3"/>
            <a:endCxn xmlns:a="http://schemas.openxmlformats.org/drawingml/2006/main" id="12" idx="1"/>
          </p:cNvCxnSpPr>
          <p:nvPr/>
        </p:nvCxnSpPr>
        <p:spPr>
          <a:xfrm xmlns:a="http://schemas.openxmlformats.org/drawingml/2006/main">
            <a:off x="8620125" y="2819400"/>
            <a:ext cx="809625" cy="0"/>
          </a:xfrm>
          <a:prstGeom xmlns:a="http://schemas.openxmlformats.org/drawingml/2006/main" prst="straightConnector1">
            <a:avLst/>
          </a:prstGeom>
          <a:ln xmlns:a="http://schemas.openxmlformats.org/drawingml/2006/main" w="19050">
            <a:solidFill>
              <a:srgbClr val="536575"/>
            </a:solidFill>
            <a:headEnd type="triangle" w="med" len="med"/>
          </a:ln>
        </p:spPr>
      </p:cxnSp>
      <p:sp>
        <p:nvSpPr>
          <p:cNvPr id="17" name="">
            <a:extLst xmlns:a="http://schemas.openxmlformats.org/drawingml/2006/main">
              <a:ext uri="{FF2B5EF4-FFF2-40B4-BE49-F238E27FC236}">
                <a16:creationId xmlns:a16="http://schemas.microsoft.com/office/drawing/2014/main" id="{CB93B679-6B03-41D8-A66E-26FC7A081219}"/>
              </a:ext>
            </a:extLst>
          </p:cNvPr>
          <p:cNvSpPr>
            <a:spLocks xmlns:a="http://schemas.openxmlformats.org/drawingml/2006/main" noGrp="1"/>
          </p:cNvSpPr>
          <p:nvPr/>
        </p:nvSpPr>
        <p:spPr>
          <a:xfrm xmlns:a="http://schemas.openxmlformats.org/drawingml/2006/main">
            <a:off x="6715125" y="409575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A chat assistant can use the retrieved evidence to answer.</a:t>
            </a:r>
          </a:p>
        </p:txBody>
      </p:sp>
      <p:sp>
        <p:nvSpPr>
          <p:cNvPr id="18" name="">
            <a:extLst xmlns:a="http://schemas.openxmlformats.org/drawingml/2006/main">
              <a:ext uri="{FF2B5EF4-FFF2-40B4-BE49-F238E27FC236}">
                <a16:creationId xmlns:a16="http://schemas.microsoft.com/office/drawing/2014/main" id="{A241A6AC-2C44-4813-9584-CAFFE405D395}"/>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The retrieval system must recover what “it” refers to.</a:t>
            </a:r>
          </a:p>
        </p:txBody>
      </p:sp>
    </p:spTree>
    <p:extLst>
      <p:ext uri="{BB962C8B-B14F-4D97-AF65-F5344CB8AC3E}">
        <p14:creationId xmlns:p14="http://schemas.microsoft.com/office/powerpoint/2010/main" val="1427836084"/>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4425ADB-04A1-42E4-AA8A-07090256D917}"/>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Raw query: the subject disappears</a:t>
            </a:r>
          </a:p>
        </p:txBody>
      </p:sp>
      <p:sp>
        <p:nvSpPr>
          <p:cNvPr id="2" name="">
            <a:extLst xmlns:a="http://schemas.openxmlformats.org/drawingml/2006/main">
              <a:ext uri="{FF2B5EF4-FFF2-40B4-BE49-F238E27FC236}">
                <a16:creationId xmlns:a16="http://schemas.microsoft.com/office/drawing/2014/main" id="{B60AA040-8DDB-42E2-B19B-4E95F90550D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72AA8A7-0B59-4E77-B260-0C3FCC8960DB}"/>
              </a:ext>
            </a:extLst>
          </p:cNvPr>
          <p:cNvSpPr>
            <a:spLocks xmlns:a="http://schemas.openxmlformats.org/drawingml/2006/main" noGrp="1"/>
          </p:cNvSpPr>
          <p:nvPr/>
        </p:nvSpPr>
        <p:spPr>
          <a:xfrm xmlns:a="http://schemas.openxmlformats.org/drawingml/2006/main">
            <a:off x="609600" y="1971675"/>
            <a:ext cx="3524250" cy="17430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4" name="">
            <a:extLst xmlns:a="http://schemas.openxmlformats.org/drawingml/2006/main">
              <a:ext uri="{FF2B5EF4-FFF2-40B4-BE49-F238E27FC236}">
                <a16:creationId xmlns:a16="http://schemas.microsoft.com/office/drawing/2014/main" id="{13A407F7-96E3-4506-A671-2D4876532454}"/>
              </a:ext>
            </a:extLst>
          </p:cNvPr>
          <p:cNvSpPr>
            <a:spLocks xmlns:a="http://schemas.openxmlformats.org/drawingml/2006/main" noGrp="1"/>
          </p:cNvSpPr>
          <p:nvPr/>
        </p:nvSpPr>
        <p:spPr>
          <a:xfrm xmlns:a="http://schemas.openxmlformats.org/drawingml/2006/main">
            <a:off x="781050" y="2124075"/>
            <a:ext cx="3181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Raw query</a:t>
            </a:r>
          </a:p>
        </p:txBody>
      </p:sp>
      <p:sp>
        <p:nvSpPr>
          <p:cNvPr id="5" name="">
            <a:extLst xmlns:a="http://schemas.openxmlformats.org/drawingml/2006/main">
              <a:ext uri="{FF2B5EF4-FFF2-40B4-BE49-F238E27FC236}">
                <a16:creationId xmlns:a16="http://schemas.microsoft.com/office/drawing/2014/main" id="{CCEFAA4C-69E7-43F3-B268-E54A25ACF419}"/>
              </a:ext>
            </a:extLst>
          </p:cNvPr>
          <p:cNvSpPr>
            <a:spLocks xmlns:a="http://schemas.openxmlformats.org/drawingml/2006/main" noGrp="1"/>
          </p:cNvSpPr>
          <p:nvPr/>
        </p:nvSpPr>
        <p:spPr>
          <a:xfrm xmlns:a="http://schemas.openxmlformats.org/drawingml/2006/main">
            <a:off x="781050" y="2524125"/>
            <a:ext cx="31813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“How much does it cost for someone to fix it?”</a:t>
            </a:r>
          </a:p>
        </p:txBody>
      </p:sp>
      <p:sp>
        <p:nvSpPr>
          <p:cNvPr id="6" name="">
            <a:extLst xmlns:a="http://schemas.openxmlformats.org/drawingml/2006/main">
              <a:ext uri="{FF2B5EF4-FFF2-40B4-BE49-F238E27FC236}">
                <a16:creationId xmlns:a16="http://schemas.microsoft.com/office/drawing/2014/main" id="{BFDC4A0A-5BA7-45AF-8558-517D380508D0}"/>
              </a:ext>
            </a:extLst>
          </p:cNvPr>
          <p:cNvSpPr>
            <a:spLocks xmlns:a="http://schemas.openxmlformats.org/drawingml/2006/main" noGrp="1"/>
          </p:cNvSpPr>
          <p:nvPr/>
        </p:nvSpPr>
        <p:spPr>
          <a:xfrm xmlns:a="http://schemas.openxmlformats.org/drawingml/2006/main">
            <a:off x="4857750" y="1971675"/>
            <a:ext cx="2476500" cy="17430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083CF0C3-74D5-4A43-9BF6-3F2B4BAB194F}"/>
              </a:ext>
            </a:extLst>
          </p:cNvPr>
          <p:cNvSpPr>
            <a:spLocks xmlns:a="http://schemas.openxmlformats.org/drawingml/2006/main" noGrp="1"/>
          </p:cNvSpPr>
          <p:nvPr/>
        </p:nvSpPr>
        <p:spPr>
          <a:xfrm xmlns:a="http://schemas.openxmlformats.org/drawingml/2006/main">
            <a:off x="5029200" y="2124075"/>
            <a:ext cx="2133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BM25</a:t>
            </a:r>
          </a:p>
        </p:txBody>
      </p:sp>
      <p:sp>
        <p:nvSpPr>
          <p:cNvPr id="8" name="">
            <a:extLst xmlns:a="http://schemas.openxmlformats.org/drawingml/2006/main">
              <a:ext uri="{FF2B5EF4-FFF2-40B4-BE49-F238E27FC236}">
                <a16:creationId xmlns:a16="http://schemas.microsoft.com/office/drawing/2014/main" id="{E224EE0C-318D-463D-A282-3A6789874C58}"/>
              </a:ext>
            </a:extLst>
          </p:cNvPr>
          <p:cNvSpPr>
            <a:spLocks xmlns:a="http://schemas.openxmlformats.org/drawingml/2006/main" noGrp="1"/>
          </p:cNvSpPr>
          <p:nvPr/>
        </p:nvSpPr>
        <p:spPr>
          <a:xfrm xmlns:a="http://schemas.openxmlformats.org/drawingml/2006/main">
            <a:off x="5029200" y="2524125"/>
            <a:ext cx="21336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Matches words in the current query</a:t>
            </a:r>
          </a:p>
        </p:txBody>
      </p:sp>
      <p:sp>
        <p:nvSpPr>
          <p:cNvPr id="9" name="">
            <a:extLst xmlns:a="http://schemas.openxmlformats.org/drawingml/2006/main">
              <a:ext uri="{FF2B5EF4-FFF2-40B4-BE49-F238E27FC236}">
                <a16:creationId xmlns:a16="http://schemas.microsoft.com/office/drawing/2014/main" id="{4FF8372C-E497-4DA2-BFF0-A17B45E0C033}"/>
              </a:ext>
            </a:extLst>
          </p:cNvPr>
          <p:cNvSpPr>
            <a:spLocks xmlns:a="http://schemas.openxmlformats.org/drawingml/2006/main" noGrp="1"/>
          </p:cNvSpPr>
          <p:nvPr/>
        </p:nvSpPr>
        <p:spPr>
          <a:xfrm xmlns:a="http://schemas.openxmlformats.org/drawingml/2006/main">
            <a:off x="8096250" y="1971675"/>
            <a:ext cx="3476625" cy="1743075"/>
          </a:xfrm>
          <a:prstGeom xmlns:a="http://schemas.openxmlformats.org/drawingml/2006/main" prst="rect">
            <a:avLst/>
          </a:prstGeom>
          <a:solidFill xmlns:a="http://schemas.openxmlformats.org/drawingml/2006/main">
            <a:srgbClr val="FFFFFF"/>
          </a:solidFill>
          <a:ln xmlns:a="http://schemas.openxmlformats.org/drawingml/2006/main" w="19050">
            <a:solidFill>
              <a:srgbClr val="B34C36"/>
            </a:solidFill>
          </a:ln>
        </p:spPr>
      </p:sp>
      <p:sp>
        <p:nvSpPr>
          <p:cNvPr id="10" name="">
            <a:extLst xmlns:a="http://schemas.openxmlformats.org/drawingml/2006/main">
              <a:ext uri="{FF2B5EF4-FFF2-40B4-BE49-F238E27FC236}">
                <a16:creationId xmlns:a16="http://schemas.microsoft.com/office/drawing/2014/main" id="{BB6735D7-074F-449D-8620-12445A99E5DD}"/>
              </a:ext>
            </a:extLst>
          </p:cNvPr>
          <p:cNvSpPr>
            <a:spLocks xmlns:a="http://schemas.openxmlformats.org/drawingml/2006/main" noGrp="1"/>
          </p:cNvSpPr>
          <p:nvPr/>
        </p:nvSpPr>
        <p:spPr>
          <a:xfrm xmlns:a="http://schemas.openxmlformats.org/drawingml/2006/main">
            <a:off x="8267700" y="2124075"/>
            <a:ext cx="3133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34C36"/>
                </a:solidFill>
                <a:latin typeface="Helvetica Neue"/>
                <a:ea typeface="Helvetica Neue"/>
                <a:cs typeface="Helvetica Neue"/>
              </a:defRPr>
            </a:pPr>
            <a:r>
              <a:rPr sz="1875" b="1">
                <a:solidFill>
                  <a:srgbClr val="B34C36"/>
                </a:solidFill>
                <a:latin typeface="Helvetica Neue"/>
                <a:ea typeface="Helvetica Neue"/>
                <a:cs typeface="Helvetica Neue"/>
              </a:rPr>
              <a:t>Possible results</a:t>
            </a:r>
          </a:p>
        </p:txBody>
      </p:sp>
      <p:sp>
        <p:nvSpPr>
          <p:cNvPr id="11" name="">
            <a:extLst xmlns:a="http://schemas.openxmlformats.org/drawingml/2006/main">
              <a:ext uri="{FF2B5EF4-FFF2-40B4-BE49-F238E27FC236}">
                <a16:creationId xmlns:a16="http://schemas.microsoft.com/office/drawing/2014/main" id="{3341BF71-DF94-4B16-9648-60435E80492E}"/>
              </a:ext>
            </a:extLst>
          </p:cNvPr>
          <p:cNvSpPr>
            <a:spLocks xmlns:a="http://schemas.openxmlformats.org/drawingml/2006/main" noGrp="1"/>
          </p:cNvSpPr>
          <p:nvPr/>
        </p:nvSpPr>
        <p:spPr>
          <a:xfrm xmlns:a="http://schemas.openxmlformats.org/drawingml/2006/main">
            <a:off x="8267700" y="2524125"/>
            <a:ext cx="31337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Phone repair costs</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Car repair services</a:t>
            </a:r>
          </a:p>
        </p:txBody>
      </p: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4133850" y="2843213"/>
            <a:ext cx="723900" cy="0"/>
          </a:xfrm>
          <a:prstGeom xmlns:a="http://schemas.openxmlformats.org/drawingml/2006/main" prst="straightConnector1">
            <a:avLst/>
          </a:prstGeom>
          <a:ln xmlns:a="http://schemas.openxmlformats.org/drawingml/2006/main" w="19050">
            <a:solidFill>
              <a:srgbClr val="536575"/>
            </a:solidFill>
            <a:head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7334250" y="2843213"/>
            <a:ext cx="762000" cy="0"/>
          </a:xfrm>
          <a:prstGeom xmlns:a="http://schemas.openxmlformats.org/drawingml/2006/main" prst="straightConnector1">
            <a:avLst/>
          </a:prstGeom>
          <a:ln xmlns:a="http://schemas.openxmlformats.org/drawingml/2006/main" w="19050">
            <a:solidFill>
              <a:srgbClr val="536575"/>
            </a:solidFill>
            <a:headEnd type="triangle" w="med" len="med"/>
          </a:ln>
        </p:spPr>
      </p:cxnSp>
      <p:sp>
        <p:nvSpPr>
          <p:cNvPr id="14" name="">
            <a:extLst xmlns:a="http://schemas.openxmlformats.org/drawingml/2006/main">
              <a:ext uri="{FF2B5EF4-FFF2-40B4-BE49-F238E27FC236}">
                <a16:creationId xmlns:a16="http://schemas.microsoft.com/office/drawing/2014/main" id="{8E14178A-F2FD-4A4D-A12F-B9E7BE7B8869}"/>
              </a:ext>
            </a:extLst>
          </p:cNvPr>
          <p:cNvSpPr>
            <a:spLocks xmlns:a="http://schemas.openxmlformats.org/drawingml/2006/main" noGrp="1"/>
          </p:cNvSpPr>
          <p:nvPr/>
        </p:nvSpPr>
        <p:spPr>
          <a:xfrm xmlns:a="http://schemas.openxmlformats.org/drawingml/2006/main">
            <a:off x="609600" y="43243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34C36"/>
                </a:solidFill>
                <a:latin typeface="Helvetica Neue"/>
                <a:ea typeface="Helvetica Neue"/>
                <a:cs typeface="Helvetica Neue"/>
              </a:defRPr>
            </a:pPr>
            <a:r>
              <a:rPr sz="2250" b="1">
                <a:solidFill>
                  <a:srgbClr val="B34C36"/>
                </a:solidFill>
                <a:latin typeface="Helvetica Neue"/>
                <a:ea typeface="Helvetica Neue"/>
                <a:cs typeface="Helvetica Neue"/>
              </a:rPr>
              <a:t>Missing context</a:t>
            </a:r>
          </a:p>
        </p:txBody>
      </p:sp>
      <p:sp>
        <p:nvSpPr>
          <p:cNvPr id="15" name="">
            <a:extLst xmlns:a="http://schemas.openxmlformats.org/drawingml/2006/main">
              <a:ext uri="{FF2B5EF4-FFF2-40B4-BE49-F238E27FC236}">
                <a16:creationId xmlns:a16="http://schemas.microsoft.com/office/drawing/2014/main" id="{927DA875-13FE-4C14-8740-1921EB0C52F3}"/>
              </a:ext>
            </a:extLst>
          </p:cNvPr>
          <p:cNvSpPr>
            <a:spLocks xmlns:a="http://schemas.openxmlformats.org/drawingml/2006/main" noGrp="1"/>
          </p:cNvSpPr>
          <p:nvPr/>
        </p:nvSpPr>
        <p:spPr>
          <a:xfrm xmlns:a="http://schemas.openxmlformats.org/drawingml/2006/main">
            <a:off x="609600" y="4838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“It” does not identify the garage door opener. Generic repair terms can match unrelated passages.</a:t>
            </a:r>
          </a:p>
        </p:txBody>
      </p:sp>
      <p:sp>
        <p:nvSpPr>
          <p:cNvPr id="16" name="">
            <a:extLst xmlns:a="http://schemas.openxmlformats.org/drawingml/2006/main">
              <a:ext uri="{FF2B5EF4-FFF2-40B4-BE49-F238E27FC236}">
                <a16:creationId xmlns:a16="http://schemas.microsoft.com/office/drawing/2014/main" id="{0CE14FFC-7499-4E98-88F4-3FDAED8A8CC6}"/>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Illustrative result topics, not recorded retrieval outputs.</a:t>
            </a:r>
          </a:p>
        </p:txBody>
      </p:sp>
    </p:spTree>
    <p:extLst>
      <p:ext uri="{BB962C8B-B14F-4D97-AF65-F5344CB8AC3E}">
        <p14:creationId xmlns:p14="http://schemas.microsoft.com/office/powerpoint/2010/main" val="703864376"/>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81D74E5-CDCE-4868-AB8A-625FEC14BA87}"/>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Pseudo-relevance feedback with RM3</a:t>
            </a:r>
          </a:p>
        </p:txBody>
      </p:sp>
      <p:sp>
        <p:nvSpPr>
          <p:cNvPr id="2" name="">
            <a:extLst xmlns:a="http://schemas.openxmlformats.org/drawingml/2006/main">
              <a:ext uri="{FF2B5EF4-FFF2-40B4-BE49-F238E27FC236}">
                <a16:creationId xmlns:a16="http://schemas.microsoft.com/office/drawing/2014/main" id="{A94D0545-6F4D-40D1-9309-BF69C33EE7E0}"/>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3655A960-A0B3-4112-B591-4766F28AE1F0}"/>
              </a:ext>
            </a:extLst>
          </p:cNvPr>
          <p:cNvSpPr>
            <a:spLocks xmlns:a="http://schemas.openxmlformats.org/drawingml/2006/main" noGrp="1"/>
          </p:cNvSpPr>
          <p:nvPr/>
        </p:nvSpPr>
        <p:spPr>
          <a:xfrm xmlns:a="http://schemas.openxmlformats.org/drawingml/2006/main">
            <a:off x="609600" y="1781175"/>
            <a:ext cx="223837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4" name="">
            <a:extLst xmlns:a="http://schemas.openxmlformats.org/drawingml/2006/main">
              <a:ext uri="{FF2B5EF4-FFF2-40B4-BE49-F238E27FC236}">
                <a16:creationId xmlns:a16="http://schemas.microsoft.com/office/drawing/2014/main" id="{F85F7140-8343-4F1A-9EDE-29168759CA6B}"/>
              </a:ext>
            </a:extLst>
          </p:cNvPr>
          <p:cNvSpPr>
            <a:spLocks xmlns:a="http://schemas.openxmlformats.org/drawingml/2006/main" noGrp="1"/>
          </p:cNvSpPr>
          <p:nvPr/>
        </p:nvSpPr>
        <p:spPr>
          <a:xfrm xmlns:a="http://schemas.openxmlformats.org/drawingml/2006/main">
            <a:off x="781050" y="1933575"/>
            <a:ext cx="1895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1  First retrieval</a:t>
            </a:r>
          </a:p>
        </p:txBody>
      </p:sp>
      <p:sp>
        <p:nvSpPr>
          <p:cNvPr id="5" name="">
            <a:extLst xmlns:a="http://schemas.openxmlformats.org/drawingml/2006/main">
              <a:ext uri="{FF2B5EF4-FFF2-40B4-BE49-F238E27FC236}">
                <a16:creationId xmlns:a16="http://schemas.microsoft.com/office/drawing/2014/main" id="{A7EE64BB-E766-439D-95E2-5F5A187717A8}"/>
              </a:ext>
            </a:extLst>
          </p:cNvPr>
          <p:cNvSpPr>
            <a:spLocks xmlns:a="http://schemas.openxmlformats.org/drawingml/2006/main" noGrp="1"/>
          </p:cNvSpPr>
          <p:nvPr/>
        </p:nvSpPr>
        <p:spPr>
          <a:xfrm xmlns:a="http://schemas.openxmlformats.org/drawingml/2006/main">
            <a:off x="781050" y="2333625"/>
            <a:ext cx="1895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Raw query</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BM25 search</a:t>
            </a:r>
          </a:p>
        </p:txBody>
      </p:sp>
      <p:sp>
        <p:nvSpPr>
          <p:cNvPr id="6" name="">
            <a:extLst xmlns:a="http://schemas.openxmlformats.org/drawingml/2006/main">
              <a:ext uri="{FF2B5EF4-FFF2-40B4-BE49-F238E27FC236}">
                <a16:creationId xmlns:a16="http://schemas.microsoft.com/office/drawing/2014/main" id="{BF48B8A3-46DA-4D9E-A2B7-29E3DF356F78}"/>
              </a:ext>
            </a:extLst>
          </p:cNvPr>
          <p:cNvSpPr>
            <a:spLocks xmlns:a="http://schemas.openxmlformats.org/drawingml/2006/main" noGrp="1"/>
          </p:cNvSpPr>
          <p:nvPr/>
        </p:nvSpPr>
        <p:spPr>
          <a:xfrm xmlns:a="http://schemas.openxmlformats.org/drawingml/2006/main">
            <a:off x="3524250" y="1781175"/>
            <a:ext cx="233362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E72D30A0-B49C-4127-A9D3-76B2D7A3289A}"/>
              </a:ext>
            </a:extLst>
          </p:cNvPr>
          <p:cNvSpPr>
            <a:spLocks xmlns:a="http://schemas.openxmlformats.org/drawingml/2006/main" noGrp="1"/>
          </p:cNvSpPr>
          <p:nvPr/>
        </p:nvSpPr>
        <p:spPr>
          <a:xfrm xmlns:a="http://schemas.openxmlformats.org/drawingml/2006/main">
            <a:off x="3695700" y="19335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2  Feedback</a:t>
            </a:r>
          </a:p>
        </p:txBody>
      </p:sp>
      <p:sp>
        <p:nvSpPr>
          <p:cNvPr id="8" name="">
            <a:extLst xmlns:a="http://schemas.openxmlformats.org/drawingml/2006/main">
              <a:ext uri="{FF2B5EF4-FFF2-40B4-BE49-F238E27FC236}">
                <a16:creationId xmlns:a16="http://schemas.microsoft.com/office/drawing/2014/main" id="{50C884D0-ABDE-49F5-AC1A-9D81525CD764}"/>
              </a:ext>
            </a:extLst>
          </p:cNvPr>
          <p:cNvSpPr>
            <a:spLocks xmlns:a="http://schemas.openxmlformats.org/drawingml/2006/main" noGrp="1"/>
          </p:cNvSpPr>
          <p:nvPr/>
        </p:nvSpPr>
        <p:spPr>
          <a:xfrm xmlns:a="http://schemas.openxmlformats.org/drawingml/2006/main">
            <a:off x="3695700" y="2333625"/>
            <a:ext cx="1990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Assume the top 10 passages are relevant</a:t>
            </a:r>
          </a:p>
        </p:txBody>
      </p:sp>
      <p:sp>
        <p:nvSpPr>
          <p:cNvPr id="9" name="">
            <a:extLst xmlns:a="http://schemas.openxmlformats.org/drawingml/2006/main">
              <a:ext uri="{FF2B5EF4-FFF2-40B4-BE49-F238E27FC236}">
                <a16:creationId xmlns:a16="http://schemas.microsoft.com/office/drawing/2014/main" id="{4885CC83-AF87-4576-BAD4-C2FCE1BF7386}"/>
              </a:ext>
            </a:extLst>
          </p:cNvPr>
          <p:cNvSpPr>
            <a:spLocks xmlns:a="http://schemas.openxmlformats.org/drawingml/2006/main" noGrp="1"/>
          </p:cNvSpPr>
          <p:nvPr/>
        </p:nvSpPr>
        <p:spPr>
          <a:xfrm xmlns:a="http://schemas.openxmlformats.org/drawingml/2006/main">
            <a:off x="6524625" y="1781175"/>
            <a:ext cx="233362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10" name="">
            <a:extLst xmlns:a="http://schemas.openxmlformats.org/drawingml/2006/main">
              <a:ext uri="{FF2B5EF4-FFF2-40B4-BE49-F238E27FC236}">
                <a16:creationId xmlns:a16="http://schemas.microsoft.com/office/drawing/2014/main" id="{D2682136-797D-44EF-84E7-04DA83A28350}"/>
              </a:ext>
            </a:extLst>
          </p:cNvPr>
          <p:cNvSpPr>
            <a:spLocks xmlns:a="http://schemas.openxmlformats.org/drawingml/2006/main" noGrp="1"/>
          </p:cNvSpPr>
          <p:nvPr/>
        </p:nvSpPr>
        <p:spPr>
          <a:xfrm xmlns:a="http://schemas.openxmlformats.org/drawingml/2006/main">
            <a:off x="6696075" y="19335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3  Expansion</a:t>
            </a:r>
          </a:p>
        </p:txBody>
      </p:sp>
      <p:sp>
        <p:nvSpPr>
          <p:cNvPr id="11" name="">
            <a:extLst xmlns:a="http://schemas.openxmlformats.org/drawingml/2006/main">
              <a:ext uri="{FF2B5EF4-FFF2-40B4-BE49-F238E27FC236}">
                <a16:creationId xmlns:a16="http://schemas.microsoft.com/office/drawing/2014/main" id="{824787FE-D2E9-4889-BAA4-C1F8DC950097}"/>
              </a:ext>
            </a:extLst>
          </p:cNvPr>
          <p:cNvSpPr>
            <a:spLocks xmlns:a="http://schemas.openxmlformats.org/drawingml/2006/main" noGrp="1"/>
          </p:cNvSpPr>
          <p:nvPr/>
        </p:nvSpPr>
        <p:spPr>
          <a:xfrm xmlns:a="http://schemas.openxmlformats.org/drawingml/2006/main">
            <a:off x="6696075" y="2333625"/>
            <a:ext cx="1990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Mix 10 feedback terms with the query</a:t>
            </a:r>
          </a:p>
        </p:txBody>
      </p:sp>
      <p:sp>
        <p:nvSpPr>
          <p:cNvPr id="12" name="">
            <a:extLst xmlns:a="http://schemas.openxmlformats.org/drawingml/2006/main">
              <a:ext uri="{FF2B5EF4-FFF2-40B4-BE49-F238E27FC236}">
                <a16:creationId xmlns:a16="http://schemas.microsoft.com/office/drawing/2014/main" id="{438AD5E6-B06F-47EF-8E76-4E8DAF39303B}"/>
              </a:ext>
            </a:extLst>
          </p:cNvPr>
          <p:cNvSpPr>
            <a:spLocks xmlns:a="http://schemas.openxmlformats.org/drawingml/2006/main" noGrp="1"/>
          </p:cNvSpPr>
          <p:nvPr/>
        </p:nvSpPr>
        <p:spPr>
          <a:xfrm xmlns:a="http://schemas.openxmlformats.org/drawingml/2006/main">
            <a:off x="9525000" y="1781175"/>
            <a:ext cx="2047875"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13" name="">
            <a:extLst xmlns:a="http://schemas.openxmlformats.org/drawingml/2006/main">
              <a:ext uri="{FF2B5EF4-FFF2-40B4-BE49-F238E27FC236}">
                <a16:creationId xmlns:a16="http://schemas.microsoft.com/office/drawing/2014/main" id="{46F598B6-B3B9-4098-9B01-3F9E542B5AF1}"/>
              </a:ext>
            </a:extLst>
          </p:cNvPr>
          <p:cNvSpPr>
            <a:spLocks xmlns:a="http://schemas.openxmlformats.org/drawingml/2006/main" noGrp="1"/>
          </p:cNvSpPr>
          <p:nvPr/>
        </p:nvSpPr>
        <p:spPr>
          <a:xfrm xmlns:a="http://schemas.openxmlformats.org/drawingml/2006/main">
            <a:off x="9696450" y="1933575"/>
            <a:ext cx="1704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4  Retrieval</a:t>
            </a:r>
          </a:p>
        </p:txBody>
      </p:sp>
      <p:sp>
        <p:nvSpPr>
          <p:cNvPr id="14" name="">
            <a:extLst xmlns:a="http://schemas.openxmlformats.org/drawingml/2006/main">
              <a:ext uri="{FF2B5EF4-FFF2-40B4-BE49-F238E27FC236}">
                <a16:creationId xmlns:a16="http://schemas.microsoft.com/office/drawing/2014/main" id="{7A278935-8A1E-4497-986D-19F609E40E70}"/>
              </a:ext>
            </a:extLst>
          </p:cNvPr>
          <p:cNvSpPr>
            <a:spLocks xmlns:a="http://schemas.openxmlformats.org/drawingml/2006/main" noGrp="1"/>
          </p:cNvSpPr>
          <p:nvPr/>
        </p:nvSpPr>
        <p:spPr>
          <a:xfrm xmlns:a="http://schemas.openxmlformats.org/drawingml/2006/main">
            <a:off x="9696450" y="2333625"/>
            <a:ext cx="17049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Search again</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Return top 100</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847975" y="2519363"/>
            <a:ext cx="676275" cy="0"/>
          </a:xfrm>
          <a:prstGeom xmlns:a="http://schemas.openxmlformats.org/drawingml/2006/main" prst="straightConnector1">
            <a:avLst/>
          </a:prstGeom>
          <a:ln xmlns:a="http://schemas.openxmlformats.org/drawingml/2006/main" w="19050">
            <a:solidFill>
              <a:srgbClr val="536575"/>
            </a:solidFill>
            <a:headEnd type="triangle" w="med" len="med"/>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a:off x="5857875" y="2519363"/>
            <a:ext cx="666750" cy="0"/>
          </a:xfrm>
          <a:prstGeom xmlns:a="http://schemas.openxmlformats.org/drawingml/2006/main" prst="straightConnector1">
            <a:avLst/>
          </a:prstGeom>
          <a:ln xmlns:a="http://schemas.openxmlformats.org/drawingml/2006/main" w="19050">
            <a:solidFill>
              <a:srgbClr val="536575"/>
            </a:solidFill>
            <a:headEnd type="triangle" w="med" len="med"/>
          </a:ln>
        </p:spPr>
      </p:cxnSp>
      <p:cxnSp>
        <p:nvCxnSpPr>
          <p:cNvPr id="37" name=""/>
          <p:cNvCxnSpPr>
            <a:stCxn xmlns:a="http://schemas.openxmlformats.org/drawingml/2006/main" id="9" idx="3"/>
            <a:endCxn xmlns:a="http://schemas.openxmlformats.org/drawingml/2006/main" id="12" idx="1"/>
          </p:cNvCxnSpPr>
          <p:nvPr/>
        </p:nvCxnSpPr>
        <p:spPr>
          <a:xfrm xmlns:a="http://schemas.openxmlformats.org/drawingml/2006/main">
            <a:off x="8858250" y="2519363"/>
            <a:ext cx="666750" cy="0"/>
          </a:xfrm>
          <a:prstGeom xmlns:a="http://schemas.openxmlformats.org/drawingml/2006/main" prst="straightConnector1">
            <a:avLst/>
          </a:prstGeom>
          <a:ln xmlns:a="http://schemas.openxmlformats.org/drawingml/2006/main" w="19050">
            <a:solidFill>
              <a:srgbClr val="536575"/>
            </a:solidFill>
            <a:headEnd type="triangle" w="med" len="med"/>
          </a:ln>
        </p:spPr>
      </p:cxnSp>
      <p:sp>
        <p:nvSpPr>
          <p:cNvPr id="18" name="">
            <a:extLst xmlns:a="http://schemas.openxmlformats.org/drawingml/2006/main">
              <a:ext uri="{FF2B5EF4-FFF2-40B4-BE49-F238E27FC236}">
                <a16:creationId xmlns:a16="http://schemas.microsoft.com/office/drawing/2014/main" id="{54621B73-BBB6-414B-927D-D662C201CE97}"/>
              </a:ext>
            </a:extLst>
          </p:cNvPr>
          <p:cNvSpPr>
            <a:spLocks xmlns:a="http://schemas.openxmlformats.org/drawingml/2006/main" noGrp="1"/>
          </p:cNvSpPr>
          <p:nvPr/>
        </p:nvSpPr>
        <p:spPr>
          <a:xfrm xmlns:a="http://schemas.openxmlformats.org/drawingml/2006/main">
            <a:off x="609600" y="3867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34C36"/>
                </a:solidFill>
                <a:latin typeface="Helvetica Neue"/>
                <a:ea typeface="Helvetica Neue"/>
                <a:cs typeface="Helvetica Neue"/>
              </a:defRPr>
            </a:pPr>
            <a:r>
              <a:rPr sz="2250" b="1">
                <a:solidFill>
                  <a:srgbClr val="B34C36"/>
                </a:solidFill>
                <a:latin typeface="Helvetica Neue"/>
                <a:ea typeface="Helvetica Neue"/>
                <a:cs typeface="Helvetica Neue"/>
              </a:rPr>
              <a:t>Example of query drift</a:t>
            </a:r>
          </a:p>
        </p:txBody>
      </p:sp>
      <p:sp>
        <p:nvSpPr>
          <p:cNvPr id="19" name="">
            <a:extLst xmlns:a="http://schemas.openxmlformats.org/drawingml/2006/main">
              <a:ext uri="{FF2B5EF4-FFF2-40B4-BE49-F238E27FC236}">
                <a16:creationId xmlns:a16="http://schemas.microsoft.com/office/drawing/2014/main" id="{4021876D-7E7A-4B67-AAD2-351333B79052}"/>
              </a:ext>
            </a:extLst>
          </p:cNvPr>
          <p:cNvSpPr>
            <a:spLocks xmlns:a="http://schemas.openxmlformats.org/drawingml/2006/main" noGrp="1"/>
          </p:cNvSpPr>
          <p:nvPr/>
        </p:nvSpPr>
        <p:spPr>
          <a:xfrm xmlns:a="http://schemas.openxmlformats.org/drawingml/2006/main">
            <a:off x="609600" y="43910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If the first results concern phones, feedback terms such as “screen” and “battery” can reinforce the wrong topic.</a:t>
            </a:r>
          </a:p>
        </p:txBody>
      </p:sp>
      <p:sp>
        <p:nvSpPr>
          <p:cNvPr id="20" name="">
            <a:extLst xmlns:a="http://schemas.openxmlformats.org/drawingml/2006/main">
              <a:ext uri="{FF2B5EF4-FFF2-40B4-BE49-F238E27FC236}">
                <a16:creationId xmlns:a16="http://schemas.microsoft.com/office/drawing/2014/main" id="{C8ABA94B-B1F2-4701-A74B-F76A0C062CD3}"/>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Weakness: PRF depends on the first ranking and cannot directly resolve conversation references.</a:t>
            </a:r>
          </a:p>
        </p:txBody>
      </p:sp>
    </p:spTree>
    <p:extLst>
      <p:ext uri="{BB962C8B-B14F-4D97-AF65-F5344CB8AC3E}">
        <p14:creationId xmlns:p14="http://schemas.microsoft.com/office/powerpoint/2010/main" val="67188465"/>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1EA279C-3508-48BA-9D87-DD9F1CB9471E}"/>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LLM rewriting with conversation history</a:t>
            </a:r>
          </a:p>
        </p:txBody>
      </p:sp>
      <p:sp>
        <p:nvSpPr>
          <p:cNvPr id="2" name="">
            <a:extLst xmlns:a="http://schemas.openxmlformats.org/drawingml/2006/main">
              <a:ext uri="{FF2B5EF4-FFF2-40B4-BE49-F238E27FC236}">
                <a16:creationId xmlns:a16="http://schemas.microsoft.com/office/drawing/2014/main" id="{215F40C6-E359-4CE9-9E32-C56435D24800}"/>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58089AC9-16B3-4F38-B0AB-11F56992E8AF}"/>
              </a:ext>
            </a:extLst>
          </p:cNvPr>
          <p:cNvSpPr>
            <a:spLocks xmlns:a="http://schemas.openxmlformats.org/drawingml/2006/main" noGrp="1"/>
          </p:cNvSpPr>
          <p:nvPr/>
        </p:nvSpPr>
        <p:spPr>
          <a:xfrm xmlns:a="http://schemas.openxmlformats.org/drawingml/2006/main">
            <a:off x="609600" y="1390650"/>
            <a:ext cx="3143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4" name="">
            <a:extLst xmlns:a="http://schemas.openxmlformats.org/drawingml/2006/main">
              <a:ext uri="{FF2B5EF4-FFF2-40B4-BE49-F238E27FC236}">
                <a16:creationId xmlns:a16="http://schemas.microsoft.com/office/drawing/2014/main" id="{1BF43B94-9470-4295-8AF0-0A756B4B1078}"/>
              </a:ext>
            </a:extLst>
          </p:cNvPr>
          <p:cNvSpPr>
            <a:spLocks xmlns:a="http://schemas.openxmlformats.org/drawingml/2006/main" noGrp="1"/>
          </p:cNvSpPr>
          <p:nvPr/>
        </p:nvSpPr>
        <p:spPr>
          <a:xfrm xmlns:a="http://schemas.openxmlformats.org/drawingml/2006/main">
            <a:off x="781050" y="15430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Input</a:t>
            </a:r>
          </a:p>
        </p:txBody>
      </p:sp>
      <p:sp>
        <p:nvSpPr>
          <p:cNvPr id="5" name="">
            <a:extLst xmlns:a="http://schemas.openxmlformats.org/drawingml/2006/main">
              <a:ext uri="{FF2B5EF4-FFF2-40B4-BE49-F238E27FC236}">
                <a16:creationId xmlns:a16="http://schemas.microsoft.com/office/drawing/2014/main" id="{A657C7AF-530B-4F8A-A927-D636B6A84644}"/>
              </a:ext>
            </a:extLst>
          </p:cNvPr>
          <p:cNvSpPr>
            <a:spLocks xmlns:a="http://schemas.openxmlformats.org/drawingml/2006/main" noGrp="1"/>
          </p:cNvSpPr>
          <p:nvPr/>
        </p:nvSpPr>
        <p:spPr>
          <a:xfrm xmlns:a="http://schemas.openxmlformats.org/drawingml/2006/main">
            <a:off x="781050" y="1943100"/>
            <a:ext cx="2800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Previous user turns</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 current question</a:t>
            </a:r>
          </a:p>
        </p:txBody>
      </p:sp>
      <p:sp>
        <p:nvSpPr>
          <p:cNvPr id="6" name="">
            <a:extLst xmlns:a="http://schemas.openxmlformats.org/drawingml/2006/main">
              <a:ext uri="{FF2B5EF4-FFF2-40B4-BE49-F238E27FC236}">
                <a16:creationId xmlns:a16="http://schemas.microsoft.com/office/drawing/2014/main" id="{E18AAB27-1FDD-44BE-82F5-30C1470F60F3}"/>
              </a:ext>
            </a:extLst>
          </p:cNvPr>
          <p:cNvSpPr>
            <a:spLocks xmlns:a="http://schemas.openxmlformats.org/drawingml/2006/main" noGrp="1"/>
          </p:cNvSpPr>
          <p:nvPr/>
        </p:nvSpPr>
        <p:spPr>
          <a:xfrm xmlns:a="http://schemas.openxmlformats.org/drawingml/2006/main">
            <a:off x="4419600" y="1390650"/>
            <a:ext cx="33337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176BBA"/>
            </a:solidFill>
          </a:ln>
        </p:spPr>
      </p:sp>
      <p:sp>
        <p:nvSpPr>
          <p:cNvPr id="7" name="">
            <a:extLst xmlns:a="http://schemas.openxmlformats.org/drawingml/2006/main">
              <a:ext uri="{FF2B5EF4-FFF2-40B4-BE49-F238E27FC236}">
                <a16:creationId xmlns:a16="http://schemas.microsoft.com/office/drawing/2014/main" id="{4932A74A-E7D0-438A-9613-159695B6947E}"/>
              </a:ext>
            </a:extLst>
          </p:cNvPr>
          <p:cNvSpPr>
            <a:spLocks xmlns:a="http://schemas.openxmlformats.org/drawingml/2006/main" noGrp="1"/>
          </p:cNvSpPr>
          <p:nvPr/>
        </p:nvSpPr>
        <p:spPr>
          <a:xfrm xmlns:a="http://schemas.openxmlformats.org/drawingml/2006/main">
            <a:off x="4591050" y="154305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BA"/>
                </a:solidFill>
                <a:latin typeface="Helvetica Neue"/>
                <a:ea typeface="Helvetica Neue"/>
                <a:cs typeface="Helvetica Neue"/>
              </a:defRPr>
            </a:pPr>
            <a:r>
              <a:rPr sz="1875" b="1">
                <a:solidFill>
                  <a:srgbClr val="176BBA"/>
                </a:solidFill>
                <a:latin typeface="Helvetica Neue"/>
                <a:ea typeface="Helvetica Neue"/>
                <a:cs typeface="Helvetica Neue"/>
              </a:rPr>
              <a:t>LLM</a:t>
            </a:r>
          </a:p>
        </p:txBody>
      </p:sp>
      <p:sp>
        <p:nvSpPr>
          <p:cNvPr id="8" name="">
            <a:extLst xmlns:a="http://schemas.openxmlformats.org/drawingml/2006/main">
              <a:ext uri="{FF2B5EF4-FFF2-40B4-BE49-F238E27FC236}">
                <a16:creationId xmlns:a16="http://schemas.microsoft.com/office/drawing/2014/main" id="{E61C6E96-9BB7-4BD7-A1FF-4CE6EE4436EF}"/>
              </a:ext>
            </a:extLst>
          </p:cNvPr>
          <p:cNvSpPr>
            <a:spLocks xmlns:a="http://schemas.openxmlformats.org/drawingml/2006/main" noGrp="1"/>
          </p:cNvSpPr>
          <p:nvPr/>
        </p:nvSpPr>
        <p:spPr>
          <a:xfrm xmlns:a="http://schemas.openxmlformats.org/drawingml/2006/main">
            <a:off x="4591050" y="1943100"/>
            <a:ext cx="2990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Resolve missing context</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Preserve the intent</a:t>
            </a:r>
          </a:p>
        </p:txBody>
      </p:sp>
      <p:sp>
        <p:nvSpPr>
          <p:cNvPr id="9" name="">
            <a:extLst xmlns:a="http://schemas.openxmlformats.org/drawingml/2006/main">
              <a:ext uri="{FF2B5EF4-FFF2-40B4-BE49-F238E27FC236}">
                <a16:creationId xmlns:a16="http://schemas.microsoft.com/office/drawing/2014/main" id="{0AE20548-AE99-403F-8ED9-A2D57D165EC8}"/>
              </a:ext>
            </a:extLst>
          </p:cNvPr>
          <p:cNvSpPr>
            <a:spLocks xmlns:a="http://schemas.openxmlformats.org/drawingml/2006/main" noGrp="1"/>
          </p:cNvSpPr>
          <p:nvPr/>
        </p:nvSpPr>
        <p:spPr>
          <a:xfrm xmlns:a="http://schemas.openxmlformats.org/drawingml/2006/main">
            <a:off x="8420100" y="1390650"/>
            <a:ext cx="3143250" cy="1238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D72"/>
            </a:solidFill>
          </a:ln>
        </p:spPr>
      </p:sp>
      <p:sp>
        <p:nvSpPr>
          <p:cNvPr id="10" name="">
            <a:extLst xmlns:a="http://schemas.openxmlformats.org/drawingml/2006/main">
              <a:ext uri="{FF2B5EF4-FFF2-40B4-BE49-F238E27FC236}">
                <a16:creationId xmlns:a16="http://schemas.microsoft.com/office/drawing/2014/main" id="{55B761D8-4C46-4EDD-B98A-5BD5F7499D5A}"/>
              </a:ext>
            </a:extLst>
          </p:cNvPr>
          <p:cNvSpPr>
            <a:spLocks xmlns:a="http://schemas.openxmlformats.org/drawingml/2006/main" noGrp="1"/>
          </p:cNvSpPr>
          <p:nvPr/>
        </p:nvSpPr>
        <p:spPr>
          <a:xfrm xmlns:a="http://schemas.openxmlformats.org/drawingml/2006/main">
            <a:off x="8591550" y="15430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D72"/>
                </a:solidFill>
                <a:latin typeface="Helvetica Neue"/>
                <a:ea typeface="Helvetica Neue"/>
                <a:cs typeface="Helvetica Neue"/>
              </a:defRPr>
            </a:pPr>
            <a:r>
              <a:rPr sz="1875" b="1">
                <a:solidFill>
                  <a:srgbClr val="007D72"/>
                </a:solidFill>
                <a:latin typeface="Helvetica Neue"/>
                <a:ea typeface="Helvetica Neue"/>
                <a:cs typeface="Helvetica Neue"/>
              </a:rPr>
              <a:t>BM25</a:t>
            </a:r>
          </a:p>
        </p:txBody>
      </p:sp>
      <p:sp>
        <p:nvSpPr>
          <p:cNvPr id="11" name="">
            <a:extLst xmlns:a="http://schemas.openxmlformats.org/drawingml/2006/main">
              <a:ext uri="{FF2B5EF4-FFF2-40B4-BE49-F238E27FC236}">
                <a16:creationId xmlns:a16="http://schemas.microsoft.com/office/drawing/2014/main" id="{B6CF3F70-8BE2-4C7D-8249-4DDABFD581CB}"/>
              </a:ext>
            </a:extLst>
          </p:cNvPr>
          <p:cNvSpPr>
            <a:spLocks xmlns:a="http://schemas.openxmlformats.org/drawingml/2006/main" noGrp="1"/>
          </p:cNvSpPr>
          <p:nvPr/>
        </p:nvSpPr>
        <p:spPr>
          <a:xfrm xmlns:a="http://schemas.openxmlformats.org/drawingml/2006/main">
            <a:off x="8591550" y="1943100"/>
            <a:ext cx="2800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Retrieve top 100</a:t>
            </a:r>
          </a:p>
          <a:p xmlns:a="http://schemas.openxmlformats.org/drawingml/2006/main">
            <a:pPr>
              <a:defRPr sz="1725" b="0">
                <a:solidFill>
                  <a:srgbClr val="152A3A"/>
                </a:solidFill>
                <a:latin typeface="Helvetica Neue"/>
                <a:ea typeface="Helvetica Neue"/>
                <a:cs typeface="Helvetica Neue"/>
              </a:defRPr>
            </a:pPr>
            <a:r>
              <a:rPr sz="1725" b="0">
                <a:solidFill>
                  <a:srgbClr val="152A3A"/>
                </a:solidFill>
                <a:latin typeface="Helvetica Neue"/>
                <a:ea typeface="Helvetica Neue"/>
                <a:cs typeface="Helvetica Neue"/>
              </a:rPr>
              <a:t>using the final query</a:t>
            </a:r>
          </a:p>
        </p:txBody>
      </p: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3752850" y="2009775"/>
            <a:ext cx="666750" cy="0"/>
          </a:xfrm>
          <a:prstGeom xmlns:a="http://schemas.openxmlformats.org/drawingml/2006/main" prst="straightConnector1">
            <a:avLst/>
          </a:prstGeom>
          <a:ln xmlns:a="http://schemas.openxmlformats.org/drawingml/2006/main" w="19050">
            <a:solidFill>
              <a:srgbClr val="536575"/>
            </a:solidFill>
            <a:headEnd type="triangle" w="med" len="med"/>
          </a:ln>
        </p:spPr>
      </p:cxnSp>
      <p:cxnSp>
        <p:nvCxnSpPr>
          <p:cNvPr id="31" name=""/>
          <p:cNvCxnSpPr>
            <a:stCxn xmlns:a="http://schemas.openxmlformats.org/drawingml/2006/main" id="6" idx="3"/>
            <a:endCxn xmlns:a="http://schemas.openxmlformats.org/drawingml/2006/main" id="9" idx="1"/>
          </p:cNvCxnSpPr>
          <p:nvPr/>
        </p:nvCxnSpPr>
        <p:spPr>
          <a:xfrm xmlns:a="http://schemas.openxmlformats.org/drawingml/2006/main">
            <a:off x="7753350" y="2009775"/>
            <a:ext cx="666750" cy="0"/>
          </a:xfrm>
          <a:prstGeom xmlns:a="http://schemas.openxmlformats.org/drawingml/2006/main" prst="straightConnector1">
            <a:avLst/>
          </a:prstGeom>
          <a:ln xmlns:a="http://schemas.openxmlformats.org/drawingml/2006/main" w="19050">
            <a:solidFill>
              <a:srgbClr val="536575"/>
            </a:solidFill>
            <a:headEnd type="triangle" w="med" len="med"/>
          </a:ln>
        </p:spPr>
      </p:cxnSp>
      <p:sp>
        <p:nvSpPr>
          <p:cNvPr id="14" name="">
            <a:extLst xmlns:a="http://schemas.openxmlformats.org/drawingml/2006/main">
              <a:ext uri="{FF2B5EF4-FFF2-40B4-BE49-F238E27FC236}">
                <a16:creationId xmlns:a16="http://schemas.microsoft.com/office/drawing/2014/main" id="{8321D602-3755-4FF9-A18B-B6C00821469A}"/>
              </a:ext>
            </a:extLst>
          </p:cNvPr>
          <p:cNvSpPr>
            <a:spLocks xmlns:a="http://schemas.openxmlformats.org/drawingml/2006/main" noGrp="1"/>
          </p:cNvSpPr>
          <p:nvPr/>
        </p:nvSpPr>
        <p:spPr>
          <a:xfrm xmlns:a="http://schemas.openxmlformats.org/drawingml/2006/main">
            <a:off x="609600" y="305752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BBA"/>
                </a:solidFill>
                <a:latin typeface="Helvetica Neue"/>
                <a:ea typeface="Helvetica Neue"/>
                <a:cs typeface="Helvetica Neue"/>
              </a:defRPr>
            </a:pPr>
            <a:r>
              <a:rPr sz="2100" b="1">
                <a:solidFill>
                  <a:srgbClr val="176BBA"/>
                </a:solidFill>
                <a:latin typeface="Helvetica Neue"/>
                <a:ea typeface="Helvetica Neue"/>
                <a:cs typeface="Helvetica Neue"/>
              </a:rPr>
              <a:t>Rewrite</a:t>
            </a:r>
          </a:p>
        </p:txBody>
      </p:sp>
      <p:sp>
        <p:nvSpPr>
          <p:cNvPr id="15" name="">
            <a:extLst xmlns:a="http://schemas.openxmlformats.org/drawingml/2006/main">
              <a:ext uri="{FF2B5EF4-FFF2-40B4-BE49-F238E27FC236}">
                <a16:creationId xmlns:a16="http://schemas.microsoft.com/office/drawing/2014/main" id="{6B229ABA-0C2E-4A0C-9F1C-20D8273218D1}"/>
              </a:ext>
            </a:extLst>
          </p:cNvPr>
          <p:cNvSpPr>
            <a:spLocks xmlns:a="http://schemas.openxmlformats.org/drawingml/2006/main" noGrp="1"/>
          </p:cNvSpPr>
          <p:nvPr/>
        </p:nvSpPr>
        <p:spPr>
          <a:xfrm xmlns:a="http://schemas.openxmlformats.org/drawingml/2006/main">
            <a:off x="3333750" y="3000375"/>
            <a:ext cx="8115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“How much does it cost to have a professional fix a broken garage door opener?”</a:t>
            </a:r>
          </a:p>
        </p:txBody>
      </p:sp>
      <p:sp>
        <p:nvSpPr>
          <p:cNvPr id="16" name="">
            <a:extLst xmlns:a="http://schemas.openxmlformats.org/drawingml/2006/main">
              <a:ext uri="{FF2B5EF4-FFF2-40B4-BE49-F238E27FC236}">
                <a16:creationId xmlns:a16="http://schemas.microsoft.com/office/drawing/2014/main" id="{C10144EC-86C2-44F2-BB29-8788444BBDF0}"/>
              </a:ext>
            </a:extLst>
          </p:cNvPr>
          <p:cNvSpPr>
            <a:spLocks xmlns:a="http://schemas.openxmlformats.org/drawingml/2006/main" noGrp="1"/>
          </p:cNvSpPr>
          <p:nvPr/>
        </p:nvSpPr>
        <p:spPr>
          <a:xfrm xmlns:a="http://schemas.openxmlformats.org/drawingml/2006/main">
            <a:off x="609600" y="418147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D72"/>
                </a:solidFill>
                <a:latin typeface="Helvetica Neue"/>
                <a:ea typeface="Helvetica Neue"/>
                <a:cs typeface="Helvetica Neue"/>
              </a:defRPr>
            </a:pPr>
            <a:r>
              <a:rPr sz="2100" b="1">
                <a:solidFill>
                  <a:srgbClr val="007D72"/>
                </a:solidFill>
                <a:latin typeface="Helvetica Neue"/>
                <a:ea typeface="Helvetica Neue"/>
                <a:cs typeface="Helvetica Neue"/>
              </a:rPr>
              <a:t>Rewrite + Keywords</a:t>
            </a:r>
          </a:p>
        </p:txBody>
      </p:sp>
      <p:sp>
        <p:nvSpPr>
          <p:cNvPr id="17" name="">
            <a:extLst xmlns:a="http://schemas.openxmlformats.org/drawingml/2006/main">
              <a:ext uri="{FF2B5EF4-FFF2-40B4-BE49-F238E27FC236}">
                <a16:creationId xmlns:a16="http://schemas.microsoft.com/office/drawing/2014/main" id="{AAB163BC-4AF4-4ADC-AE7B-7D4C4C80D002}"/>
              </a:ext>
            </a:extLst>
          </p:cNvPr>
          <p:cNvSpPr>
            <a:spLocks xmlns:a="http://schemas.openxmlformats.org/drawingml/2006/main" noGrp="1"/>
          </p:cNvSpPr>
          <p:nvPr/>
        </p:nvSpPr>
        <p:spPr>
          <a:xfrm xmlns:a="http://schemas.openxmlformats.org/drawingml/2006/main">
            <a:off x="3333750" y="4143375"/>
            <a:ext cx="8143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“How much does it cost for someone to fix a garage door opener? repair price service fee”</a:t>
            </a:r>
          </a:p>
        </p:txBody>
      </p:sp>
      <p:sp>
        <p:nvSpPr>
          <p:cNvPr id="18" name="">
            <a:extLst xmlns:a="http://schemas.openxmlformats.org/drawingml/2006/main">
              <a:ext uri="{FF2B5EF4-FFF2-40B4-BE49-F238E27FC236}">
                <a16:creationId xmlns:a16="http://schemas.microsoft.com/office/drawing/2014/main" id="{6AFE587D-8430-44A9-A59A-6B975B17E4CA}"/>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Actual outputs for turn 81_3. The keyword branch generates its own base rewrite in a separate call.</a:t>
            </a:r>
          </a:p>
        </p:txBody>
      </p:sp>
    </p:spTree>
    <p:extLst>
      <p:ext uri="{BB962C8B-B14F-4D97-AF65-F5344CB8AC3E}">
        <p14:creationId xmlns:p14="http://schemas.microsoft.com/office/powerpoint/2010/main" val="1915487934"/>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1BACF9-2254-4A42-8808-21F9CFC4FEE3}"/>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TREC CAsT 2020: what the dataset contains</a:t>
            </a:r>
          </a:p>
        </p:txBody>
      </p:sp>
      <p:sp>
        <p:nvSpPr>
          <p:cNvPr id="2" name="">
            <a:extLst xmlns:a="http://schemas.openxmlformats.org/drawingml/2006/main">
              <a:ext uri="{FF2B5EF4-FFF2-40B4-BE49-F238E27FC236}">
                <a16:creationId xmlns:a16="http://schemas.microsoft.com/office/drawing/2014/main" id="{556F49D2-EC14-473C-A4A1-7395A5908FE9}"/>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98DBBAE5-8C02-4B49-918D-954669CBD61E}"/>
              </a:ext>
            </a:extLst>
          </p:cNvPr>
          <p:cNvSpPr>
            <a:spLocks xmlns:a="http://schemas.openxmlformats.org/drawingml/2006/main" noGrp="1"/>
          </p:cNvSpPr>
          <p:nvPr/>
        </p:nvSpPr>
        <p:spPr>
          <a:xfrm xmlns:a="http://schemas.openxmlformats.org/drawingml/2006/main">
            <a:off x="6096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6BBA"/>
                </a:solidFill>
                <a:latin typeface="Helvetica Neue"/>
                <a:ea typeface="Helvetica Neue"/>
                <a:cs typeface="Helvetica Neue"/>
              </a:defRPr>
            </a:pPr>
            <a:r>
              <a:rPr sz="4875" b="1">
                <a:solidFill>
                  <a:srgbClr val="176BBA"/>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065D7E07-8EBB-4182-8405-64FF6F86BE19}"/>
              </a:ext>
            </a:extLst>
          </p:cNvPr>
          <p:cNvSpPr>
            <a:spLocks xmlns:a="http://schemas.openxmlformats.org/drawingml/2006/main" noGrp="1"/>
          </p:cNvSpPr>
          <p:nvPr/>
        </p:nvSpPr>
        <p:spPr>
          <a:xfrm xmlns:a="http://schemas.openxmlformats.org/drawingml/2006/main">
            <a:off x="609600" y="22574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conversations</a:t>
            </a:r>
          </a:p>
        </p:txBody>
      </p:sp>
      <p:sp>
        <p:nvSpPr>
          <p:cNvPr id="5" name="">
            <a:extLst xmlns:a="http://schemas.openxmlformats.org/drawingml/2006/main">
              <a:ext uri="{FF2B5EF4-FFF2-40B4-BE49-F238E27FC236}">
                <a16:creationId xmlns:a16="http://schemas.microsoft.com/office/drawing/2014/main" id="{8F29CECB-4F34-4719-B953-34F18B7F00D5}"/>
              </a:ext>
            </a:extLst>
          </p:cNvPr>
          <p:cNvSpPr>
            <a:spLocks xmlns:a="http://schemas.openxmlformats.org/drawingml/2006/main" noGrp="1"/>
          </p:cNvSpPr>
          <p:nvPr/>
        </p:nvSpPr>
        <p:spPr>
          <a:xfrm xmlns:a="http://schemas.openxmlformats.org/drawingml/2006/main">
            <a:off x="44958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6BBA"/>
                </a:solidFill>
                <a:latin typeface="Helvetica Neue"/>
                <a:ea typeface="Helvetica Neue"/>
                <a:cs typeface="Helvetica Neue"/>
              </a:defRPr>
            </a:pPr>
            <a:r>
              <a:rPr sz="4875" b="1">
                <a:solidFill>
                  <a:srgbClr val="176BBA"/>
                </a:solidFill>
                <a:latin typeface="Helvetica Neue"/>
                <a:ea typeface="Helvetica Neue"/>
                <a:cs typeface="Helvetica Neue"/>
              </a:rPr>
              <a:t>216</a:t>
            </a:r>
          </a:p>
        </p:txBody>
      </p:sp>
      <p:sp>
        <p:nvSpPr>
          <p:cNvPr id="6" name="">
            <a:extLst xmlns:a="http://schemas.openxmlformats.org/drawingml/2006/main">
              <a:ext uri="{FF2B5EF4-FFF2-40B4-BE49-F238E27FC236}">
                <a16:creationId xmlns:a16="http://schemas.microsoft.com/office/drawing/2014/main" id="{C5E22B94-A8DC-4D5B-9E22-B64580B4EE2C}"/>
              </a:ext>
            </a:extLst>
          </p:cNvPr>
          <p:cNvSpPr>
            <a:spLocks xmlns:a="http://schemas.openxmlformats.org/drawingml/2006/main" noGrp="1"/>
          </p:cNvSpPr>
          <p:nvPr/>
        </p:nvSpPr>
        <p:spPr>
          <a:xfrm xmlns:a="http://schemas.openxmlformats.org/drawingml/2006/main">
            <a:off x="4495800" y="2257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total turns</a:t>
            </a:r>
          </a:p>
        </p:txBody>
      </p:sp>
      <p:sp>
        <p:nvSpPr>
          <p:cNvPr id="7" name="">
            <a:extLst xmlns:a="http://schemas.openxmlformats.org/drawingml/2006/main">
              <a:ext uri="{FF2B5EF4-FFF2-40B4-BE49-F238E27FC236}">
                <a16:creationId xmlns:a16="http://schemas.microsoft.com/office/drawing/2014/main" id="{BD2DA878-3F43-447C-BD64-31EF7290EBC4}"/>
              </a:ext>
            </a:extLst>
          </p:cNvPr>
          <p:cNvSpPr>
            <a:spLocks xmlns:a="http://schemas.openxmlformats.org/drawingml/2006/main" noGrp="1"/>
          </p:cNvSpPr>
          <p:nvPr/>
        </p:nvSpPr>
        <p:spPr>
          <a:xfrm xmlns:a="http://schemas.openxmlformats.org/drawingml/2006/main">
            <a:off x="84201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007D72"/>
                </a:solidFill>
                <a:latin typeface="Helvetica Neue"/>
                <a:ea typeface="Helvetica Neue"/>
                <a:cs typeface="Helvetica Neue"/>
              </a:defRPr>
            </a:pPr>
            <a:r>
              <a:rPr sz="4875" b="1">
                <a:solidFill>
                  <a:srgbClr val="007D72"/>
                </a:solidFill>
                <a:latin typeface="Helvetica Neue"/>
                <a:ea typeface="Helvetica Neue"/>
                <a:cs typeface="Helvetica Neue"/>
              </a:rPr>
              <a:t>208</a:t>
            </a:r>
          </a:p>
        </p:txBody>
      </p:sp>
      <p:sp>
        <p:nvSpPr>
          <p:cNvPr id="8" name="">
            <a:extLst xmlns:a="http://schemas.openxmlformats.org/drawingml/2006/main">
              <a:ext uri="{FF2B5EF4-FFF2-40B4-BE49-F238E27FC236}">
                <a16:creationId xmlns:a16="http://schemas.microsoft.com/office/drawing/2014/main" id="{CD1B5D0C-6A75-4AC5-B846-E3329C8B83C0}"/>
              </a:ext>
            </a:extLst>
          </p:cNvPr>
          <p:cNvSpPr>
            <a:spLocks xmlns:a="http://schemas.openxmlformats.org/drawingml/2006/main" noGrp="1"/>
          </p:cNvSpPr>
          <p:nvPr/>
        </p:nvSpPr>
        <p:spPr>
          <a:xfrm xmlns:a="http://schemas.openxmlformats.org/drawingml/2006/main">
            <a:off x="8420100" y="22574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turns with judgments</a:t>
            </a:r>
          </a:p>
        </p:txBody>
      </p:sp>
      <p:sp>
        <p:nvSpPr>
          <p:cNvPr id="9" name="">
            <a:extLst xmlns:a="http://schemas.openxmlformats.org/drawingml/2006/main">
              <a:ext uri="{FF2B5EF4-FFF2-40B4-BE49-F238E27FC236}">
                <a16:creationId xmlns:a16="http://schemas.microsoft.com/office/drawing/2014/main" id="{ED7486AF-158B-4BC3-A0E2-902673103A47}"/>
              </a:ext>
            </a:extLst>
          </p:cNvPr>
          <p:cNvSpPr>
            <a:spLocks xmlns:a="http://schemas.openxmlformats.org/drawingml/2006/main" noGrp="1"/>
          </p:cNvSpPr>
          <p:nvPr/>
        </p:nvSpPr>
        <p:spPr>
          <a:xfrm xmlns:a="http://schemas.openxmlformats.org/drawingml/2006/main">
            <a:off x="609600" y="32766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Conversation data</a:t>
            </a:r>
          </a:p>
        </p:txBody>
      </p:sp>
      <p:sp>
        <p:nvSpPr>
          <p:cNvPr id="10" name="">
            <a:extLst xmlns:a="http://schemas.openxmlformats.org/drawingml/2006/main">
              <a:ext uri="{FF2B5EF4-FFF2-40B4-BE49-F238E27FC236}">
                <a16:creationId xmlns:a16="http://schemas.microsoft.com/office/drawing/2014/main" id="{2D6A6A45-C7AC-4245-8BDD-03AF5169D974}"/>
              </a:ext>
            </a:extLst>
          </p:cNvPr>
          <p:cNvSpPr>
            <a:spLocks xmlns:a="http://schemas.openxmlformats.org/drawingml/2006/main" noGrp="1"/>
          </p:cNvSpPr>
          <p:nvPr/>
        </p:nvSpPr>
        <p:spPr>
          <a:xfrm xmlns:a="http://schemas.openxmlformats.org/drawingml/2006/main">
            <a:off x="609600" y="3857625"/>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Ordered user utterances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Manual standalone rewrites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Canonical response passages</a:t>
            </a:r>
          </a:p>
        </p:txBody>
      </p:sp>
      <p:sp>
        <p:nvSpPr>
          <p:cNvPr id="11" name="">
            <a:extLst xmlns:a="http://schemas.openxmlformats.org/drawingml/2006/main">
              <a:ext uri="{FF2B5EF4-FFF2-40B4-BE49-F238E27FC236}">
                <a16:creationId xmlns:a16="http://schemas.microsoft.com/office/drawing/2014/main" id="{25CD8599-980E-4D66-9539-3D2779C6E12D}"/>
              </a:ext>
            </a:extLst>
          </p:cNvPr>
          <p:cNvSpPr>
            <a:spLocks xmlns:a="http://schemas.openxmlformats.org/drawingml/2006/main" noGrp="1"/>
          </p:cNvSpPr>
          <p:nvPr/>
        </p:nvSpPr>
        <p:spPr>
          <a:xfrm xmlns:a="http://schemas.openxmlformats.org/drawingml/2006/main">
            <a:off x="6372225" y="32766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Retrieval and evaluation data</a:t>
            </a:r>
          </a:p>
        </p:txBody>
      </p:sp>
      <p:sp>
        <p:nvSpPr>
          <p:cNvPr id="12" name="">
            <a:extLst xmlns:a="http://schemas.openxmlformats.org/drawingml/2006/main">
              <a:ext uri="{FF2B5EF4-FFF2-40B4-BE49-F238E27FC236}">
                <a16:creationId xmlns:a16="http://schemas.microsoft.com/office/drawing/2014/main" id="{20C3D76F-66D4-4074-A762-54F3B58D225F}"/>
              </a:ext>
            </a:extLst>
          </p:cNvPr>
          <p:cNvSpPr>
            <a:spLocks xmlns:a="http://schemas.openxmlformats.org/drawingml/2006/main" noGrp="1"/>
          </p:cNvSpPr>
          <p:nvPr/>
        </p:nvSpPr>
        <p:spPr>
          <a:xfrm xmlns:a="http://schemas.openxmlformats.org/drawingml/2006/main">
            <a:off x="6372225" y="38576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MS MARCO + Wikipedia CAR passages</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Query–passage relevance judgments</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40,451 judgments in the project setup</a:t>
            </a:r>
          </a:p>
        </p:txBody>
      </p:sp>
      <p:sp>
        <p:nvSpPr>
          <p:cNvPr id="13" name="">
            <a:extLst xmlns:a="http://schemas.openxmlformats.org/drawingml/2006/main">
              <a:ext uri="{FF2B5EF4-FFF2-40B4-BE49-F238E27FC236}">
                <a16:creationId xmlns:a16="http://schemas.microsoft.com/office/drawing/2014/main" id="{44039F4D-7166-48E7-920F-EB8A8DBBE84D}"/>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History uses all preceding user turns. Evaluation uses only the 208 judged turns.</a:t>
            </a:r>
          </a:p>
        </p:txBody>
      </p:sp>
    </p:spTree>
    <p:extLst>
      <p:ext uri="{BB962C8B-B14F-4D97-AF65-F5344CB8AC3E}">
        <p14:creationId xmlns:p14="http://schemas.microsoft.com/office/powerpoint/2010/main" val="1971001349"/>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73659F-3009-4B9E-BF60-1519A4DB444B}"/>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Benchmark: five methods on CAsT 2020</a:t>
            </a:r>
          </a:p>
        </p:txBody>
      </p:sp>
      <p:sp>
        <p:nvSpPr>
          <p:cNvPr id="2" name="">
            <a:extLst xmlns:a="http://schemas.openxmlformats.org/drawingml/2006/main">
              <a:ext uri="{FF2B5EF4-FFF2-40B4-BE49-F238E27FC236}">
                <a16:creationId xmlns:a16="http://schemas.microsoft.com/office/drawing/2014/main" id="{1133F119-FD14-4E42-9261-3472B3E1E3B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275C0AA0-0C44-4BC2-887C-B5A76E75BE26}"/>
              </a:ext>
            </a:extLst>
          </p:cNvPr>
          <p:cNvSpPr>
            <a:spLocks xmlns:a="http://schemas.openxmlformats.org/drawingml/2006/main" noGrp="1"/>
          </p:cNvSpPr>
          <p:nvPr/>
        </p:nvSpPr>
        <p:spPr>
          <a:xfrm xmlns:a="http://schemas.openxmlformats.org/drawingml/2006/main">
            <a:off x="609600" y="12382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5"/>
                </a:solidFill>
                <a:latin typeface="Helvetica Neue"/>
                <a:ea typeface="Helvetica Neue"/>
                <a:cs typeface="Helvetica Neue"/>
              </a:defRPr>
            </a:pPr>
            <a:r>
              <a:rPr sz="1800" b="0">
                <a:solidFill>
                  <a:srgbClr val="536575"/>
                </a:solidFill>
                <a:latin typeface="Helvetica Neue"/>
                <a:ea typeface="Helvetica Neue"/>
                <a:cs typeface="Helvetica Neue"/>
              </a:rPr>
              <a:t>Shared setup: BM25 (k₁ = 0.9, b = 0.4), cast2019 index, top 100, 208 turns</a:t>
            </a:r>
          </a:p>
        </p:txBody>
      </p:sp>
      <p:graphicFrame>
        <p:nvGraphicFramePr>
          <p:cNvPr id="10" name=""/>
          <p:cNvGraphicFramePr/>
          <p:nvPr/>
        </p:nvGraphicFramePr>
        <p:xfrm>
          <a:off xmlns:a="http://schemas.openxmlformats.org/drawingml/2006/main" x="609600" y="1943100"/>
          <a:ext xmlns:a="http://schemas.openxmlformats.org/drawingml/2006/main" cx="10972800" cy="2924175"/>
        </p:xfrm>
        <a:graphic xmlns:a="http://schemas.openxmlformats.org/drawingml/2006/main">
          <a:graphicData uri="http://schemas.openxmlformats.org/drawingml/2006/table">
            <a:tbl>
              <a:tblPr/>
              <a:tblGrid>
                <a:gridCol w="4286250"/>
                <a:gridCol w="2228850"/>
                <a:gridCol w="2228850"/>
                <a:gridCol w="2228850"/>
              </a:tblGrid>
              <a:tr h="485775">
                <a:tc>
                  <a:txBody>
                    <a:bodyPr/>
                    <a:lstStyle/>
                    <a:p>
                      <a:r>
                        <a:rPr sz="1950" b="1">
                          <a:solidFill>
                            <a:srgbClr val="FFFFFF"/>
                          </a:solidFill>
                          <a:latin typeface="Helvetica Neue"/>
                          <a:ea typeface="Helvetica Neue"/>
                          <a:cs typeface="Helvetica Neue"/>
                        </a:rPr>
                        <a:t>Method</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nDCG@10</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Recall@100</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RR@10</a:t>
                      </a:r>
                    </a:p>
                  </a:txBody>
                  <a:tcPr marL="91440" marR="91440" marT="45720" marB="45720">
                    <a:solidFill>
                      <a:srgbClr val="152A3A"/>
                    </a:solidFill>
                  </a:tcPr>
                </a:tc>
              </a:tr>
              <a:tr h="485775">
                <a:tc>
                  <a:txBody>
                    <a:bodyPr/>
                    <a:lstStyle/>
                    <a:p>
                      <a:r>
                        <a:rPr sz="1950" b="0">
                          <a:solidFill>
                            <a:srgbClr val="152A3A"/>
                          </a:solidFill>
                          <a:latin typeface="Helvetica Neue"/>
                          <a:ea typeface="Helvetica Neue"/>
                          <a:cs typeface="Helvetica Neue"/>
                        </a:rPr>
                        <a:t>Raw</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0.0780</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0.1251</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0.1720</a:t>
                      </a:r>
                    </a:p>
                  </a:txBody>
                  <a:tcPr marL="91440" marR="91440" marT="45720" marB="45720">
                    <a:solidFill>
                      <a:srgbClr val="FFFFFF"/>
                    </a:solidFill>
                  </a:tcPr>
                </a:tc>
              </a:tr>
              <a:tr h="485775">
                <a:tc>
                  <a:txBody>
                    <a:bodyPr/>
                    <a:lstStyle/>
                    <a:p>
                      <a:r>
                        <a:rPr sz="1950" b="0">
                          <a:solidFill>
                            <a:srgbClr val="152A3A"/>
                          </a:solidFill>
                          <a:latin typeface="Helvetica Neue"/>
                          <a:ea typeface="Helvetica Neue"/>
                          <a:cs typeface="Helvetica Neue"/>
                        </a:rPr>
                        <a:t>PRF (RM3)</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0.0905</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0.1415</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0.1784</a:t>
                      </a:r>
                    </a:p>
                  </a:txBody>
                  <a:tcPr marL="91440" marR="91440" marT="45720" marB="45720">
                    <a:solidFill>
                      <a:srgbClr val="FFFFFF"/>
                    </a:solidFill>
                  </a:tcPr>
                </a:tc>
              </a:tr>
              <a:tr h="485775">
                <a:tc>
                  <a:txBody>
                    <a:bodyPr/>
                    <a:lstStyle/>
                    <a:p>
                      <a:r>
                        <a:rPr sz="1950" b="0">
                          <a:solidFill>
                            <a:srgbClr val="152A3A"/>
                          </a:solidFill>
                          <a:latin typeface="Helvetica Neue"/>
                          <a:ea typeface="Helvetica Neue"/>
                          <a:cs typeface="Helvetica Neue"/>
                        </a:rPr>
                        <a:t>Rewrite</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0.2311</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0.3688</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0.5097</a:t>
                      </a:r>
                    </a:p>
                  </a:txBody>
                  <a:tcPr marL="91440" marR="91440" marT="45720" marB="45720">
                    <a:solidFill>
                      <a:srgbClr val="FFFFFF"/>
                    </a:solidFill>
                  </a:tcPr>
                </a:tc>
              </a:tr>
              <a:tr h="485775">
                <a:tc>
                  <a:txBody>
                    <a:bodyPr/>
                    <a:lstStyle/>
                    <a:p>
                      <a:r>
                        <a:rPr sz="1950" b="1">
                          <a:solidFill>
                            <a:srgbClr val="152A3A"/>
                          </a:solidFill>
                          <a:latin typeface="Helvetica Neue"/>
                          <a:ea typeface="Helvetica Neue"/>
                          <a:cs typeface="Helvetica Neue"/>
                        </a:rPr>
                        <a:t>Rewrite + Keywords</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0.2364</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0.3812</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0.5105</a:t>
                      </a:r>
                    </a:p>
                  </a:txBody>
                  <a:tcPr marL="91440" marR="91440" marT="45720" marB="45720">
                    <a:solidFill>
                      <a:srgbClr val="E0F2EE"/>
                    </a:solidFill>
                  </a:tcPr>
                </a:tc>
              </a:tr>
              <a:tr h="485775">
                <a:tc>
                  <a:txBody>
                    <a:bodyPr/>
                    <a:lstStyle/>
                    <a:p>
                      <a:r>
                        <a:rPr sz="1950" b="1">
                          <a:solidFill>
                            <a:srgbClr val="152A3A"/>
                          </a:solidFill>
                          <a:latin typeface="Helvetica Neue"/>
                          <a:ea typeface="Helvetica Neue"/>
                          <a:cs typeface="Helvetica Neue"/>
                        </a:rPr>
                        <a:t>Human</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0.2558</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0.4273</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0.5430</a:t>
                      </a:r>
                    </a:p>
                  </a:txBody>
                  <a:tcPr marL="91440" marR="91440" marT="45720" marB="45720">
                    <a:solidFill>
                      <a:srgbClr val="E8EEF4"/>
                    </a:solidFill>
                  </a:tcPr>
                </a:tc>
              </a:tr>
            </a:tbl>
          </a:graphicData>
        </a:graphic>
      </p:graphicFrame>
      <p:sp>
        <p:nvSpPr>
          <p:cNvPr id="5" name="">
            <a:extLst xmlns:a="http://schemas.openxmlformats.org/drawingml/2006/main">
              <a:ext uri="{FF2B5EF4-FFF2-40B4-BE49-F238E27FC236}">
                <a16:creationId xmlns:a16="http://schemas.microsoft.com/office/drawing/2014/main" id="{FD917DA8-4409-442E-A4A8-6766E4B799C0}"/>
              </a:ext>
            </a:extLst>
          </p:cNvPr>
          <p:cNvSpPr>
            <a:spLocks xmlns:a="http://schemas.openxmlformats.org/drawingml/2006/main" noGrp="1"/>
          </p:cNvSpPr>
          <p:nvPr/>
        </p:nvSpPr>
        <p:spPr>
          <a:xfrm xmlns:a="http://schemas.openxmlformats.org/drawingml/2006/main">
            <a:off x="609600" y="51530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D72"/>
                </a:solidFill>
                <a:latin typeface="Helvetica Neue"/>
                <a:ea typeface="Helvetica Neue"/>
                <a:cs typeface="Helvetica Neue"/>
              </a:defRPr>
            </a:pPr>
            <a:r>
              <a:rPr sz="2100" b="1">
                <a:solidFill>
                  <a:srgbClr val="007D72"/>
                </a:solidFill>
                <a:latin typeface="Helvetica Neue"/>
                <a:ea typeface="Helvetica Neue"/>
                <a:cs typeface="Helvetica Neue"/>
              </a:rPr>
              <a:t>Rewrite + Keywords has the highest automatic scores. Human remains the strongest reference.</a:t>
            </a:r>
          </a:p>
        </p:txBody>
      </p:sp>
      <p:sp>
        <p:nvSpPr>
          <p:cNvPr id="6" name="">
            <a:extLst xmlns:a="http://schemas.openxmlformats.org/drawingml/2006/main">
              <a:ext uri="{FF2B5EF4-FFF2-40B4-BE49-F238E27FC236}">
                <a16:creationId xmlns:a16="http://schemas.microsoft.com/office/drawing/2014/main" id="{E0E421B0-D86D-4CC1-9C5A-F77147D413D5}"/>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Higher is better. Saved project results, rounded to 4 decimals. No statistical significance test.</a:t>
            </a:r>
          </a:p>
        </p:txBody>
      </p:sp>
    </p:spTree>
    <p:extLst>
      <p:ext uri="{BB962C8B-B14F-4D97-AF65-F5344CB8AC3E}">
        <p14:creationId xmlns:p14="http://schemas.microsoft.com/office/powerpoint/2010/main" val="516183602"/>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760643-F40B-46B7-86C4-53DE59F909A9}"/>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Limitations</a:t>
            </a:r>
          </a:p>
        </p:txBody>
      </p:sp>
      <p:sp>
        <p:nvSpPr>
          <p:cNvPr id="2" name="">
            <a:extLst xmlns:a="http://schemas.openxmlformats.org/drawingml/2006/main">
              <a:ext uri="{FF2B5EF4-FFF2-40B4-BE49-F238E27FC236}">
                <a16:creationId xmlns:a16="http://schemas.microsoft.com/office/drawing/2014/main" id="{B3E3BBC2-0293-46A2-8CA7-762AFBE9ABC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86F75EB2-849B-445F-8C47-9CC63F9C2FDE}"/>
              </a:ext>
            </a:extLst>
          </p:cNvPr>
          <p:cNvSpPr>
            <a:spLocks xmlns:a="http://schemas.openxmlformats.org/drawingml/2006/main" noGrp="1"/>
          </p:cNvSpPr>
          <p:nvPr/>
        </p:nvSpPr>
        <p:spPr>
          <a:xfrm xmlns:a="http://schemas.openxmlformats.org/drawingml/2006/main">
            <a:off x="609600" y="1447800"/>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Incomplete context</a:t>
            </a:r>
          </a:p>
        </p:txBody>
      </p:sp>
      <p:sp>
        <p:nvSpPr>
          <p:cNvPr id="4" name="">
            <a:extLst xmlns:a="http://schemas.openxmlformats.org/drawingml/2006/main">
              <a:ext uri="{FF2B5EF4-FFF2-40B4-BE49-F238E27FC236}">
                <a16:creationId xmlns:a16="http://schemas.microsoft.com/office/drawing/2014/main" id="{D1171213-A4A5-4976-AD4F-256DA4D6577D}"/>
              </a:ext>
            </a:extLst>
          </p:cNvPr>
          <p:cNvSpPr>
            <a:spLocks xmlns:a="http://schemas.openxmlformats.org/drawingml/2006/main" noGrp="1"/>
          </p:cNvSpPr>
          <p:nvPr/>
        </p:nvSpPr>
        <p:spPr>
          <a:xfrm xmlns:a="http://schemas.openxmlformats.org/drawingml/2006/main">
            <a:off x="4381500" y="1447800"/>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User-only history omits previous answers that some CAsT turns depend on.</a:t>
            </a:r>
          </a:p>
        </p:txBody>
      </p:sp>
      <p:sp>
        <p:nvSpPr>
          <p:cNvPr id="5" name="">
            <a:extLst xmlns:a="http://schemas.openxmlformats.org/drawingml/2006/main">
              <a:ext uri="{FF2B5EF4-FFF2-40B4-BE49-F238E27FC236}">
                <a16:creationId xmlns:a16="http://schemas.microsoft.com/office/drawing/2014/main" id="{AC1F1042-FDE5-4EA2-8C1F-ADEA0E6C2DA5}"/>
              </a:ext>
            </a:extLst>
          </p:cNvPr>
          <p:cNvSpPr>
            <a:spLocks xmlns:a="http://schemas.openxmlformats.org/drawingml/2006/main" noGrp="1"/>
          </p:cNvSpPr>
          <p:nvPr/>
        </p:nvSpPr>
        <p:spPr>
          <a:xfrm xmlns:a="http://schemas.openxmlformats.org/drawingml/2006/main">
            <a:off x="609600" y="2543175"/>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34C36"/>
                </a:solidFill>
                <a:latin typeface="Helvetica Neue"/>
                <a:ea typeface="Helvetica Neue"/>
                <a:cs typeface="Helvetica Neue"/>
              </a:defRPr>
            </a:pPr>
            <a:r>
              <a:rPr sz="2175" b="1">
                <a:solidFill>
                  <a:srgbClr val="B34C36"/>
                </a:solidFill>
                <a:latin typeface="Helvetica Neue"/>
                <a:ea typeface="Helvetica Neue"/>
                <a:cs typeface="Helvetica Neue"/>
              </a:rPr>
              <a:t>Rewrite errors</a:t>
            </a:r>
          </a:p>
        </p:txBody>
      </p:sp>
      <p:sp>
        <p:nvSpPr>
          <p:cNvPr id="6" name="">
            <a:extLst xmlns:a="http://schemas.openxmlformats.org/drawingml/2006/main">
              <a:ext uri="{FF2B5EF4-FFF2-40B4-BE49-F238E27FC236}">
                <a16:creationId xmlns:a16="http://schemas.microsoft.com/office/drawing/2014/main" id="{B5910913-CABB-4FA2-8140-9947099647CD}"/>
              </a:ext>
            </a:extLst>
          </p:cNvPr>
          <p:cNvSpPr>
            <a:spLocks xmlns:a="http://schemas.openxmlformats.org/drawingml/2006/main" noGrp="1"/>
          </p:cNvSpPr>
          <p:nvPr/>
        </p:nvSpPr>
        <p:spPr>
          <a:xfrm xmlns:a="http://schemas.openxmlformats.org/drawingml/2006/main">
            <a:off x="4381500" y="2543175"/>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The LLM can alter intent or add unsupported terms. The keyword branch worsens 28 of 208 turns versus Raw on nDCG@10.</a:t>
            </a:r>
          </a:p>
        </p:txBody>
      </p:sp>
      <p:sp>
        <p:nvSpPr>
          <p:cNvPr id="7" name="">
            <a:extLst xmlns:a="http://schemas.openxmlformats.org/drawingml/2006/main">
              <a:ext uri="{FF2B5EF4-FFF2-40B4-BE49-F238E27FC236}">
                <a16:creationId xmlns:a16="http://schemas.microsoft.com/office/drawing/2014/main" id="{5F3D350A-D357-48FC-A1AD-A7AF76B4658A}"/>
              </a:ext>
            </a:extLst>
          </p:cNvPr>
          <p:cNvSpPr>
            <a:spLocks xmlns:a="http://schemas.openxmlformats.org/drawingml/2006/main" noGrp="1"/>
          </p:cNvSpPr>
          <p:nvPr/>
        </p:nvSpPr>
        <p:spPr>
          <a:xfrm xmlns:a="http://schemas.openxmlformats.org/drawingml/2006/main">
            <a:off x="609600" y="3638550"/>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Limited experimental scope</a:t>
            </a:r>
          </a:p>
        </p:txBody>
      </p:sp>
      <p:sp>
        <p:nvSpPr>
          <p:cNvPr id="8" name="">
            <a:extLst xmlns:a="http://schemas.openxmlformats.org/drawingml/2006/main">
              <a:ext uri="{FF2B5EF4-FFF2-40B4-BE49-F238E27FC236}">
                <a16:creationId xmlns:a16="http://schemas.microsoft.com/office/drawing/2014/main" id="{D8C5DF5F-9CB7-448B-AAC6-A0ED6EB7EDCD}"/>
              </a:ext>
            </a:extLst>
          </p:cNvPr>
          <p:cNvSpPr>
            <a:spLocks xmlns:a="http://schemas.openxmlformats.org/drawingml/2006/main" noGrp="1"/>
          </p:cNvSpPr>
          <p:nvPr/>
        </p:nvSpPr>
        <p:spPr>
          <a:xfrm xmlns:a="http://schemas.openxmlformats.org/drawingml/2006/main">
            <a:off x="4381500" y="3638550"/>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One dataset, one recorded model, and BM25. No significance tests or latency and cost measurements.</a:t>
            </a:r>
          </a:p>
        </p:txBody>
      </p:sp>
      <p:sp>
        <p:nvSpPr>
          <p:cNvPr id="9" name="">
            <a:extLst xmlns:a="http://schemas.openxmlformats.org/drawingml/2006/main">
              <a:ext uri="{FF2B5EF4-FFF2-40B4-BE49-F238E27FC236}">
                <a16:creationId xmlns:a16="http://schemas.microsoft.com/office/drawing/2014/main" id="{1C6DD0D1-FB9E-4BEE-9603-6BC76F49B6C5}"/>
              </a:ext>
            </a:extLst>
          </p:cNvPr>
          <p:cNvSpPr>
            <a:spLocks xmlns:a="http://schemas.openxmlformats.org/drawingml/2006/main" noGrp="1"/>
          </p:cNvSpPr>
          <p:nvPr/>
        </p:nvSpPr>
        <p:spPr>
          <a:xfrm xmlns:a="http://schemas.openxmlformats.org/drawingml/2006/main">
            <a:off x="609600" y="4733925"/>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Keywords are not isolated</a:t>
            </a:r>
          </a:p>
        </p:txBody>
      </p:sp>
      <p:sp>
        <p:nvSpPr>
          <p:cNvPr id="10" name="">
            <a:extLst xmlns:a="http://schemas.openxmlformats.org/drawingml/2006/main">
              <a:ext uri="{FF2B5EF4-FFF2-40B4-BE49-F238E27FC236}">
                <a16:creationId xmlns:a16="http://schemas.microsoft.com/office/drawing/2014/main" id="{579364DD-372F-405E-8E80-813B2B186C7F}"/>
              </a:ext>
            </a:extLst>
          </p:cNvPr>
          <p:cNvSpPr>
            <a:spLocks xmlns:a="http://schemas.openxmlformats.org/drawingml/2006/main" noGrp="1"/>
          </p:cNvSpPr>
          <p:nvPr/>
        </p:nvSpPr>
        <p:spPr>
          <a:xfrm xmlns:a="http://schemas.openxmlformats.org/drawingml/2006/main">
            <a:off x="4381500" y="4733925"/>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The two prompts generate different base rewrites. Their score difference cannot be attributed only to added keywords.</a:t>
            </a:r>
          </a:p>
        </p:txBody>
      </p:sp>
    </p:spTree>
    <p:extLst>
      <p:ext uri="{BB962C8B-B14F-4D97-AF65-F5344CB8AC3E}">
        <p14:creationId xmlns:p14="http://schemas.microsoft.com/office/powerpoint/2010/main" val="1905685043"/>
      </p:ext>
    </p:extLst>
  </p:cSld>
</p:sld>
</file>

<file path=ppt/slides/slide9.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0DCA9F1-8885-4978-A3B4-0AFEB63BFBED}"/>
              </a:ext>
            </a:extLst>
          </p:cNvPr>
          <p:cNvSpPr>
            <a:spLocks xmlns:a="http://schemas.openxmlformats.org/drawingml/2006/main" noGrp="1"/>
          </p:cNvSpPr>
          <p:nvPr/>
        </p:nvSpPr>
        <p:spPr>
          <a:xfrm xmlns:a="http://schemas.openxmlformats.org/drawingml/2006/main">
            <a:off x="762000" y="21336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90E77596-783A-4041-A22C-D2F73F247A94}"/>
              </a:ext>
            </a:extLst>
          </p:cNvPr>
          <p:cNvSpPr>
            <a:spLocks xmlns:a="http://schemas.openxmlformats.org/drawingml/2006/main" noGrp="1"/>
          </p:cNvSpPr>
          <p:nvPr/>
        </p:nvSpPr>
        <p:spPr>
          <a:xfrm xmlns:a="http://schemas.openxmlformats.org/drawingml/2006/main">
            <a:off x="809625" y="364807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C8DEEC"/>
                </a:solidFill>
                <a:latin typeface="Helvetica Neue"/>
                <a:ea typeface="Helvetica Neue"/>
                <a:cs typeface="Helvetica Neue"/>
              </a:defRPr>
            </a:pPr>
            <a:r>
              <a:rPr sz="2550" b="0">
                <a:solidFill>
                  <a:srgbClr val="C8DEEC"/>
                </a:solidFill>
                <a:latin typeface="Helvetica Neue"/>
                <a:ea typeface="Helvetica Neue"/>
                <a:cs typeface="Helvetica Neue"/>
              </a:rPr>
              <a:t>Questions &amp; discussion</a:t>
            </a:r>
          </a:p>
        </p:txBody>
      </p:sp>
    </p:spTree>
    <p:extLst>
      <p:ext uri="{BB962C8B-B14F-4D97-AF65-F5344CB8AC3E}">
        <p14:creationId xmlns:p14="http://schemas.microsoft.com/office/powerpoint/2010/main" val="614282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2026-09-22T17:11:49.5260000Z</dcterms:created>
  <dcterms:modified xsi:type="dcterms:W3CDTF">2026-09-22T17:11:49.5260000Z</dcterms:modified>
</coreProperties>
</file>